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Garet Bold" charset="1" panose="00000000000000000000"/>
      <p:regular r:id="rId17"/>
    </p:embeddedFont>
    <p:embeddedFont>
      <p:font typeface="Garet" charset="1" panose="00000000000000000000"/>
      <p:regular r:id="rId18"/>
    </p:embeddedFont>
    <p:embeddedFont>
      <p:font typeface="Canva Sans Bold" charset="1" panose="020B08030305010401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jpeg" Type="http://schemas.openxmlformats.org/officeDocument/2006/relationships/image"/><Relationship Id="rId5" Target="../media/image11.jpe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20.jpeg" Type="http://schemas.openxmlformats.org/officeDocument/2006/relationships/image"/><Relationship Id="rId5" Target="../media/image21.jpe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https://ms-cc-org.github.io/DSU-Hackathon-2026-Geek-Squad/" TargetMode="External" Type="http://schemas.openxmlformats.org/officeDocument/2006/relationships/hyperlink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32941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328491" y="-364894"/>
            <a:ext cx="12238688" cy="14419662"/>
          </a:xfrm>
          <a:custGeom>
            <a:avLst/>
            <a:gdLst/>
            <a:ahLst/>
            <a:cxnLst/>
            <a:rect r="r" b="b" t="t" l="l"/>
            <a:pathLst>
              <a:path h="14419662" w="12238688">
                <a:moveTo>
                  <a:pt x="0" y="0"/>
                </a:moveTo>
                <a:lnTo>
                  <a:pt x="12238688" y="0"/>
                </a:lnTo>
                <a:lnTo>
                  <a:pt x="12238688" y="14419662"/>
                </a:lnTo>
                <a:lnTo>
                  <a:pt x="0" y="144196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-2448162" y="-3996202"/>
            <a:ext cx="12238688" cy="14419662"/>
          </a:xfrm>
          <a:custGeom>
            <a:avLst/>
            <a:gdLst/>
            <a:ahLst/>
            <a:cxnLst/>
            <a:rect r="r" b="b" t="t" l="l"/>
            <a:pathLst>
              <a:path h="14419662" w="12238688">
                <a:moveTo>
                  <a:pt x="0" y="0"/>
                </a:moveTo>
                <a:lnTo>
                  <a:pt x="12238688" y="0"/>
                </a:lnTo>
                <a:lnTo>
                  <a:pt x="12238688" y="14419663"/>
                </a:lnTo>
                <a:lnTo>
                  <a:pt x="0" y="144196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349235">
            <a:off x="-864908" y="-4290068"/>
            <a:ext cx="7947578" cy="7167270"/>
          </a:xfrm>
          <a:custGeom>
            <a:avLst/>
            <a:gdLst/>
            <a:ahLst/>
            <a:cxnLst/>
            <a:rect r="r" b="b" t="t" l="l"/>
            <a:pathLst>
              <a:path h="7167270" w="7947578">
                <a:moveTo>
                  <a:pt x="0" y="0"/>
                </a:moveTo>
                <a:lnTo>
                  <a:pt x="7947578" y="0"/>
                </a:lnTo>
                <a:lnTo>
                  <a:pt x="7947578" y="7167271"/>
                </a:lnTo>
                <a:lnTo>
                  <a:pt x="0" y="71672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349235">
            <a:off x="13701316" y="911210"/>
            <a:ext cx="8594036" cy="7750258"/>
          </a:xfrm>
          <a:custGeom>
            <a:avLst/>
            <a:gdLst/>
            <a:ahLst/>
            <a:cxnLst/>
            <a:rect r="r" b="b" t="t" l="l"/>
            <a:pathLst>
              <a:path h="7750258" w="8594036">
                <a:moveTo>
                  <a:pt x="0" y="0"/>
                </a:moveTo>
                <a:lnTo>
                  <a:pt x="8594036" y="0"/>
                </a:lnTo>
                <a:lnTo>
                  <a:pt x="8594036" y="7750257"/>
                </a:lnTo>
                <a:lnTo>
                  <a:pt x="0" y="77502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108881" y="3524220"/>
            <a:ext cx="11582665" cy="30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59"/>
              </a:lnSpc>
              <a:spcBef>
                <a:spcPct val="0"/>
              </a:spcBef>
            </a:pPr>
            <a:r>
              <a:rPr lang="en-US" b="true" sz="6715">
                <a:solidFill>
                  <a:srgbClr val="FAD955"/>
                </a:solidFill>
                <a:latin typeface="Garet Bold"/>
                <a:ea typeface="Garet Bold"/>
                <a:cs typeface="Garet Bold"/>
                <a:sym typeface="Garet Bold"/>
              </a:rPr>
              <a:t>Smart Drought Response: AI Ranking for High‑Risk Counties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86091" y="7300469"/>
            <a:ext cx="12703491" cy="1105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92"/>
              </a:lnSpc>
            </a:pPr>
            <a:r>
              <a:rPr lang="en-US" sz="3600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Team Geek Squad - Juwan Johnson, Karim Stack, Joshua Parker, Carelle Ngadeu, Jeremiah Drummond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2626440" y="9077265"/>
            <a:ext cx="2692391" cy="2692391"/>
          </a:xfrm>
          <a:custGeom>
            <a:avLst/>
            <a:gdLst/>
            <a:ahLst/>
            <a:cxnLst/>
            <a:rect r="r" b="b" t="t" l="l"/>
            <a:pathLst>
              <a:path h="2692391" w="2692391">
                <a:moveTo>
                  <a:pt x="0" y="0"/>
                </a:moveTo>
                <a:lnTo>
                  <a:pt x="2692391" y="0"/>
                </a:lnTo>
                <a:lnTo>
                  <a:pt x="2692391" y="2692391"/>
                </a:lnTo>
                <a:lnTo>
                  <a:pt x="0" y="26923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179517" y="-1252946"/>
            <a:ext cx="2281646" cy="2281646"/>
          </a:xfrm>
          <a:custGeom>
            <a:avLst/>
            <a:gdLst/>
            <a:ahLst/>
            <a:cxnLst/>
            <a:rect r="r" b="b" t="t" l="l"/>
            <a:pathLst>
              <a:path h="2281646" w="2281646">
                <a:moveTo>
                  <a:pt x="0" y="0"/>
                </a:moveTo>
                <a:lnTo>
                  <a:pt x="2281646" y="0"/>
                </a:lnTo>
                <a:lnTo>
                  <a:pt x="2281646" y="2281646"/>
                </a:lnTo>
                <a:lnTo>
                  <a:pt x="0" y="22816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4091410"/>
            <a:ext cx="526045" cy="526045"/>
          </a:xfrm>
          <a:custGeom>
            <a:avLst/>
            <a:gdLst/>
            <a:ahLst/>
            <a:cxnLst/>
            <a:rect r="r" b="b" t="t" l="l"/>
            <a:pathLst>
              <a:path h="526045" w="526045">
                <a:moveTo>
                  <a:pt x="0" y="0"/>
                </a:moveTo>
                <a:lnTo>
                  <a:pt x="526045" y="0"/>
                </a:lnTo>
                <a:lnTo>
                  <a:pt x="526045" y="526045"/>
                </a:lnTo>
                <a:lnTo>
                  <a:pt x="0" y="526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487881" y="4617455"/>
            <a:ext cx="8005996" cy="6813294"/>
            <a:chOff x="0" y="0"/>
            <a:chExt cx="2108575" cy="17944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08575" cy="1794448"/>
            </a:xfrm>
            <a:custGeom>
              <a:avLst/>
              <a:gdLst/>
              <a:ahLst/>
              <a:cxnLst/>
              <a:rect r="r" b="b" t="t" l="l"/>
              <a:pathLst>
                <a:path h="1794448" w="2108575">
                  <a:moveTo>
                    <a:pt x="96702" y="0"/>
                  </a:moveTo>
                  <a:lnTo>
                    <a:pt x="2011874" y="0"/>
                  </a:lnTo>
                  <a:cubicBezTo>
                    <a:pt x="2037520" y="0"/>
                    <a:pt x="2062117" y="10188"/>
                    <a:pt x="2080252" y="28323"/>
                  </a:cubicBezTo>
                  <a:cubicBezTo>
                    <a:pt x="2098387" y="46458"/>
                    <a:pt x="2108575" y="71055"/>
                    <a:pt x="2108575" y="96702"/>
                  </a:cubicBezTo>
                  <a:lnTo>
                    <a:pt x="2108575" y="1697746"/>
                  </a:lnTo>
                  <a:cubicBezTo>
                    <a:pt x="2108575" y="1723393"/>
                    <a:pt x="2098387" y="1747989"/>
                    <a:pt x="2080252" y="1766124"/>
                  </a:cubicBezTo>
                  <a:cubicBezTo>
                    <a:pt x="2062117" y="1784260"/>
                    <a:pt x="2037520" y="1794448"/>
                    <a:pt x="2011874" y="1794448"/>
                  </a:cubicBezTo>
                  <a:lnTo>
                    <a:pt x="96702" y="1794448"/>
                  </a:lnTo>
                  <a:cubicBezTo>
                    <a:pt x="71055" y="1794448"/>
                    <a:pt x="46458" y="1784260"/>
                    <a:pt x="28323" y="1766124"/>
                  </a:cubicBezTo>
                  <a:cubicBezTo>
                    <a:pt x="10188" y="1747989"/>
                    <a:pt x="0" y="1723393"/>
                    <a:pt x="0" y="1697746"/>
                  </a:cubicBezTo>
                  <a:lnTo>
                    <a:pt x="0" y="96702"/>
                  </a:lnTo>
                  <a:cubicBezTo>
                    <a:pt x="0" y="71055"/>
                    <a:pt x="10188" y="46458"/>
                    <a:pt x="28323" y="28323"/>
                  </a:cubicBezTo>
                  <a:cubicBezTo>
                    <a:pt x="46458" y="10188"/>
                    <a:pt x="71055" y="0"/>
                    <a:pt x="96702" y="0"/>
                  </a:cubicBezTo>
                  <a:close/>
                </a:path>
              </a:pathLst>
            </a:custGeom>
            <a:solidFill>
              <a:srgbClr val="06532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08575" cy="18325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045608" y="1028700"/>
            <a:ext cx="3213692" cy="7132653"/>
            <a:chOff x="0" y="0"/>
            <a:chExt cx="2858770" cy="6344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58770" cy="6344920"/>
            </a:xfrm>
            <a:custGeom>
              <a:avLst/>
              <a:gdLst/>
              <a:ahLst/>
              <a:cxnLst/>
              <a:rect r="r" b="b" t="t" l="l"/>
              <a:pathLst>
                <a:path h="6344920" w="2858770">
                  <a:moveTo>
                    <a:pt x="1827530" y="6344920"/>
                  </a:moveTo>
                  <a:lnTo>
                    <a:pt x="0" y="6344920"/>
                  </a:lnTo>
                  <a:lnTo>
                    <a:pt x="0" y="1031240"/>
                  </a:lnTo>
                  <a:cubicBezTo>
                    <a:pt x="0" y="461010"/>
                    <a:pt x="461010" y="0"/>
                    <a:pt x="1031240" y="0"/>
                  </a:cubicBezTo>
                  <a:lnTo>
                    <a:pt x="2858770" y="0"/>
                  </a:lnTo>
                  <a:lnTo>
                    <a:pt x="2858770" y="5313680"/>
                  </a:lnTo>
                  <a:cubicBezTo>
                    <a:pt x="2858770" y="5883910"/>
                    <a:pt x="2397760" y="6344920"/>
                    <a:pt x="1827530" y="6344920"/>
                  </a:cubicBezTo>
                  <a:close/>
                </a:path>
              </a:pathLst>
            </a:custGeom>
            <a:blipFill>
              <a:blip r:embed="rId4"/>
              <a:stretch>
                <a:fillRect l="-117190" t="0" r="-11719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098515" y="2440949"/>
            <a:ext cx="3213692" cy="7132653"/>
            <a:chOff x="0" y="0"/>
            <a:chExt cx="2858770" cy="6344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58770" cy="6344920"/>
            </a:xfrm>
            <a:custGeom>
              <a:avLst/>
              <a:gdLst/>
              <a:ahLst/>
              <a:cxnLst/>
              <a:rect r="r" b="b" t="t" l="l"/>
              <a:pathLst>
                <a:path h="6344920" w="2858770">
                  <a:moveTo>
                    <a:pt x="1827530" y="6344920"/>
                  </a:moveTo>
                  <a:lnTo>
                    <a:pt x="0" y="6344920"/>
                  </a:lnTo>
                  <a:lnTo>
                    <a:pt x="0" y="1031240"/>
                  </a:lnTo>
                  <a:cubicBezTo>
                    <a:pt x="0" y="461010"/>
                    <a:pt x="461010" y="0"/>
                    <a:pt x="1031240" y="0"/>
                  </a:cubicBezTo>
                  <a:lnTo>
                    <a:pt x="2858770" y="0"/>
                  </a:lnTo>
                  <a:lnTo>
                    <a:pt x="2858770" y="5313680"/>
                  </a:lnTo>
                  <a:cubicBezTo>
                    <a:pt x="2858770" y="5883910"/>
                    <a:pt x="2397760" y="6344920"/>
                    <a:pt x="1827530" y="6344920"/>
                  </a:cubicBezTo>
                  <a:close/>
                </a:path>
              </a:pathLst>
            </a:custGeom>
            <a:blipFill>
              <a:blip r:embed="rId5"/>
              <a:stretch>
                <a:fillRect l="-60893" t="0" r="-172233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8700" y="1765720"/>
            <a:ext cx="8941669" cy="2182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3"/>
              </a:lnSpc>
              <a:spcBef>
                <a:spcPct val="0"/>
              </a:spcBef>
            </a:pPr>
            <a:r>
              <a:rPr lang="en-US" b="true" sz="7203">
                <a:solidFill>
                  <a:srgbClr val="151D1F"/>
                </a:solidFill>
                <a:latin typeface="Garet Bold"/>
                <a:ea typeface="Garet Bold"/>
                <a:cs typeface="Garet Bold"/>
                <a:sym typeface="Garet Bold"/>
              </a:rPr>
              <a:t>Problem Statement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722230"/>
            <a:ext cx="8336390" cy="4335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3"/>
              </a:lnSpc>
            </a:pPr>
            <a:r>
              <a:rPr lang="en-US" sz="2267">
                <a:solidFill>
                  <a:srgbClr val="151D1F"/>
                </a:solidFill>
                <a:latin typeface="Garet"/>
                <a:ea typeface="Garet"/>
                <a:cs typeface="Garet"/>
                <a:sym typeface="Garet"/>
              </a:rPr>
              <a:t>() Traditional drought triggers like rainfall deficits often miss the counties experiencing real crop losses, slowing emergency relief decisions.</a:t>
            </a:r>
          </a:p>
          <a:p>
            <a:pPr algn="l">
              <a:lnSpc>
                <a:spcPts val="3173"/>
              </a:lnSpc>
            </a:pPr>
          </a:p>
          <a:p>
            <a:pPr algn="l">
              <a:lnSpc>
                <a:spcPts val="3173"/>
              </a:lnSpc>
            </a:pPr>
            <a:r>
              <a:rPr lang="en-US" sz="2267">
                <a:solidFill>
                  <a:srgbClr val="151D1F"/>
                </a:solidFill>
                <a:latin typeface="Garet"/>
                <a:ea typeface="Garet"/>
                <a:cs typeface="Garet"/>
                <a:sym typeface="Garet"/>
              </a:rPr>
              <a:t>() </a:t>
            </a:r>
            <a:r>
              <a:rPr lang="en-US" sz="2267">
                <a:solidFill>
                  <a:srgbClr val="151D1F"/>
                </a:solidFill>
                <a:latin typeface="Garet"/>
                <a:ea typeface="Garet"/>
                <a:cs typeface="Garet"/>
                <a:sym typeface="Garet"/>
              </a:rPr>
              <a:t>We built a data‑driven county ranking and trigger system trained on 2000–2015 and validated on 2016–2025 to reliably identify high‑risk areas.</a:t>
            </a:r>
          </a:p>
          <a:p>
            <a:pPr algn="l">
              <a:lnSpc>
                <a:spcPts val="3173"/>
              </a:lnSpc>
            </a:pPr>
          </a:p>
          <a:p>
            <a:pPr algn="l">
              <a:lnSpc>
                <a:spcPts val="3173"/>
              </a:lnSpc>
            </a:pPr>
            <a:r>
              <a:rPr lang="en-US" sz="2267">
                <a:solidFill>
                  <a:srgbClr val="151D1F"/>
                </a:solidFill>
                <a:latin typeface="Garet"/>
                <a:ea typeface="Garet"/>
                <a:cs typeface="Garet"/>
                <a:sym typeface="Garet"/>
              </a:rPr>
              <a:t>() </a:t>
            </a:r>
            <a:r>
              <a:rPr lang="en-US" sz="2267">
                <a:solidFill>
                  <a:srgbClr val="151D1F"/>
                </a:solidFill>
                <a:latin typeface="Garet"/>
                <a:ea typeface="Garet"/>
                <a:cs typeface="Garet"/>
                <a:sym typeface="Garet"/>
              </a:rPr>
              <a:t>Our Streamlit dashboard gives state officials a fast, clear way to target drought assistance with greater accuracy and confidence.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349235">
            <a:off x="12076198" y="2258515"/>
            <a:ext cx="8594036" cy="7750258"/>
          </a:xfrm>
          <a:custGeom>
            <a:avLst/>
            <a:gdLst/>
            <a:ahLst/>
            <a:cxnLst/>
            <a:rect r="r" b="b" t="t" l="l"/>
            <a:pathLst>
              <a:path h="7750258" w="8594036">
                <a:moveTo>
                  <a:pt x="0" y="0"/>
                </a:moveTo>
                <a:lnTo>
                  <a:pt x="8594036" y="0"/>
                </a:lnTo>
                <a:lnTo>
                  <a:pt x="8594036" y="7750258"/>
                </a:lnTo>
                <a:lnTo>
                  <a:pt x="0" y="77502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462012" y="-582051"/>
            <a:ext cx="2281646" cy="2281646"/>
          </a:xfrm>
          <a:custGeom>
            <a:avLst/>
            <a:gdLst/>
            <a:ahLst/>
            <a:cxnLst/>
            <a:rect r="r" b="b" t="t" l="l"/>
            <a:pathLst>
              <a:path h="2281646" w="2281646">
                <a:moveTo>
                  <a:pt x="0" y="0"/>
                </a:moveTo>
                <a:lnTo>
                  <a:pt x="2281646" y="0"/>
                </a:lnTo>
                <a:lnTo>
                  <a:pt x="2281646" y="2281646"/>
                </a:lnTo>
                <a:lnTo>
                  <a:pt x="0" y="22816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398511" cy="10287000"/>
            <a:chOff x="0" y="0"/>
            <a:chExt cx="1301149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1149" cy="1593725"/>
            </a:xfrm>
            <a:custGeom>
              <a:avLst/>
              <a:gdLst/>
              <a:ahLst/>
              <a:cxnLst/>
              <a:rect r="r" b="b" t="t" l="l"/>
              <a:pathLst>
                <a:path h="1593725" w="1301149">
                  <a:moveTo>
                    <a:pt x="0" y="0"/>
                  </a:moveTo>
                  <a:lnTo>
                    <a:pt x="1301149" y="0"/>
                  </a:lnTo>
                  <a:lnTo>
                    <a:pt x="1301149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41921" t="0" r="-4192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-10800000">
            <a:off x="0" y="0"/>
            <a:ext cx="8392051" cy="10287000"/>
          </a:xfrm>
          <a:custGeom>
            <a:avLst/>
            <a:gdLst/>
            <a:ahLst/>
            <a:cxnLst/>
            <a:rect r="r" b="b" t="t" l="l"/>
            <a:pathLst>
              <a:path h="10287000" w="8392051">
                <a:moveTo>
                  <a:pt x="0" y="0"/>
                </a:moveTo>
                <a:lnTo>
                  <a:pt x="8392051" y="0"/>
                </a:lnTo>
                <a:lnTo>
                  <a:pt x="839205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258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85576" y="149651"/>
            <a:ext cx="7986823" cy="5332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27"/>
              </a:lnSpc>
            </a:pPr>
            <a:r>
              <a:rPr lang="en-US" sz="7203" b="true">
                <a:solidFill>
                  <a:srgbClr val="FAD955"/>
                </a:solidFill>
                <a:latin typeface="Garet Bold"/>
                <a:ea typeface="Garet Bold"/>
                <a:cs typeface="Garet Bold"/>
                <a:sym typeface="Garet Bold"/>
              </a:rPr>
              <a:t>Direction: </a:t>
            </a:r>
          </a:p>
          <a:p>
            <a:pPr algn="l">
              <a:lnSpc>
                <a:spcPts val="8427"/>
              </a:lnSpc>
            </a:pPr>
            <a:r>
              <a:rPr lang="en-US" sz="7203" b="true">
                <a:solidFill>
                  <a:srgbClr val="FAD955"/>
                </a:solidFill>
                <a:latin typeface="Garet Bold"/>
                <a:ea typeface="Garet Bold"/>
                <a:cs typeface="Garet Bold"/>
                <a:sym typeface="Garet Bold"/>
              </a:rPr>
              <a:t>Drought Relief Prioritization System</a:t>
            </a:r>
          </a:p>
          <a:p>
            <a:pPr algn="l">
              <a:lnSpc>
                <a:spcPts val="8427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8884942" y="3669030"/>
            <a:ext cx="8469707" cy="332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51D1F"/>
                </a:solidFill>
                <a:latin typeface="Garet"/>
                <a:ea typeface="Garet"/>
                <a:cs typeface="Garet"/>
                <a:sym typeface="Garet"/>
              </a:rPr>
              <a:t>() Helps identify which counties need emergency drought relief first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51D1F"/>
                </a:solidFill>
                <a:latin typeface="Garet"/>
                <a:ea typeface="Garet"/>
                <a:cs typeface="Garet"/>
                <a:sym typeface="Garet"/>
              </a:rPr>
              <a:t>() </a:t>
            </a:r>
            <a:r>
              <a:rPr lang="en-US" sz="2400">
                <a:solidFill>
                  <a:srgbClr val="151D1F"/>
                </a:solidFill>
                <a:latin typeface="Garet"/>
                <a:ea typeface="Garet"/>
                <a:cs typeface="Garet"/>
                <a:sym typeface="Garet"/>
              </a:rPr>
              <a:t>Uses historical data to rank counties by drought-related crop losses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51D1F"/>
                </a:solidFill>
                <a:latin typeface="Garet"/>
                <a:ea typeface="Garet"/>
                <a:cs typeface="Garet"/>
                <a:sym typeface="Garet"/>
              </a:rPr>
              <a:t>() </a:t>
            </a:r>
            <a:r>
              <a:rPr lang="en-US" sz="2400">
                <a:solidFill>
                  <a:srgbClr val="151D1F"/>
                </a:solidFill>
                <a:latin typeface="Garet"/>
                <a:ea typeface="Garet"/>
                <a:cs typeface="Garet"/>
                <a:sym typeface="Garet"/>
              </a:rPr>
              <a:t>Provides clear thresholds for when assistance should begin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349235">
            <a:off x="-2214927" y="5898317"/>
            <a:ext cx="8594036" cy="7750258"/>
          </a:xfrm>
          <a:custGeom>
            <a:avLst/>
            <a:gdLst/>
            <a:ahLst/>
            <a:cxnLst/>
            <a:rect r="r" b="b" t="t" l="l"/>
            <a:pathLst>
              <a:path h="7750258" w="8594036">
                <a:moveTo>
                  <a:pt x="0" y="0"/>
                </a:moveTo>
                <a:lnTo>
                  <a:pt x="8594035" y="0"/>
                </a:lnTo>
                <a:lnTo>
                  <a:pt x="8594035" y="7750258"/>
                </a:lnTo>
                <a:lnTo>
                  <a:pt x="0" y="7750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349235">
            <a:off x="15737396" y="-4745596"/>
            <a:ext cx="8594036" cy="7750258"/>
          </a:xfrm>
          <a:custGeom>
            <a:avLst/>
            <a:gdLst/>
            <a:ahLst/>
            <a:cxnLst/>
            <a:rect r="r" b="b" t="t" l="l"/>
            <a:pathLst>
              <a:path h="7750258" w="8594036">
                <a:moveTo>
                  <a:pt x="0" y="0"/>
                </a:moveTo>
                <a:lnTo>
                  <a:pt x="8594036" y="0"/>
                </a:lnTo>
                <a:lnTo>
                  <a:pt x="8594036" y="7750258"/>
                </a:lnTo>
                <a:lnTo>
                  <a:pt x="0" y="77502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26425" y="0"/>
            <a:ext cx="8261575" cy="10287000"/>
            <a:chOff x="0" y="0"/>
            <a:chExt cx="217588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5888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5888">
                  <a:moveTo>
                    <a:pt x="0" y="0"/>
                  </a:moveTo>
                  <a:lnTo>
                    <a:pt x="2175888" y="0"/>
                  </a:lnTo>
                  <a:lnTo>
                    <a:pt x="217588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6532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75888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508106" y="1619086"/>
            <a:ext cx="5246370" cy="3830036"/>
            <a:chOff x="0" y="0"/>
            <a:chExt cx="812800" cy="5933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593373"/>
            </a:xfrm>
            <a:custGeom>
              <a:avLst/>
              <a:gdLst/>
              <a:ahLst/>
              <a:cxnLst/>
              <a:rect r="r" b="b" t="t" l="l"/>
              <a:pathLst>
                <a:path h="59337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593373"/>
                  </a:lnTo>
                  <a:lnTo>
                    <a:pt x="0" y="593373"/>
                  </a:lnTo>
                  <a:close/>
                </a:path>
              </a:pathLst>
            </a:custGeom>
            <a:blipFill>
              <a:blip r:embed="rId2"/>
              <a:stretch>
                <a:fillRect l="-4786" t="0" r="-4786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919711" y="908524"/>
            <a:ext cx="8352465" cy="4375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3"/>
              </a:lnSpc>
            </a:pPr>
            <a:r>
              <a:rPr lang="en-US" sz="7203" b="true">
                <a:solidFill>
                  <a:srgbClr val="151D1F"/>
                </a:solidFill>
                <a:latin typeface="Garet Bold"/>
                <a:ea typeface="Garet Bold"/>
                <a:cs typeface="Garet Bold"/>
                <a:sym typeface="Garet Bold"/>
              </a:rPr>
              <a:t>State Drought Program officials must decide...</a:t>
            </a:r>
          </a:p>
          <a:p>
            <a:pPr algn="l">
              <a:lnSpc>
                <a:spcPts val="8643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543910" y="6194068"/>
            <a:ext cx="7226606" cy="291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() Which counties should receive funding first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() </a:t>
            </a: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What metric or threshold triggers assistance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() </a:t>
            </a: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Which counties face the most urgent drought-related losses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10426832">
            <a:off x="-1792469" y="6933678"/>
            <a:ext cx="8594036" cy="7750258"/>
          </a:xfrm>
          <a:custGeom>
            <a:avLst/>
            <a:gdLst/>
            <a:ahLst/>
            <a:cxnLst/>
            <a:rect r="r" b="b" t="t" l="l"/>
            <a:pathLst>
              <a:path h="7750258" w="8594036">
                <a:moveTo>
                  <a:pt x="0" y="0"/>
                </a:moveTo>
                <a:lnTo>
                  <a:pt x="8594036" y="0"/>
                </a:lnTo>
                <a:lnTo>
                  <a:pt x="8594036" y="7750258"/>
                </a:lnTo>
                <a:lnTo>
                  <a:pt x="0" y="77502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679688" y="-1140823"/>
            <a:ext cx="2281646" cy="2281646"/>
          </a:xfrm>
          <a:custGeom>
            <a:avLst/>
            <a:gdLst/>
            <a:ahLst/>
            <a:cxnLst/>
            <a:rect r="r" b="b" t="t" l="l"/>
            <a:pathLst>
              <a:path h="2281646" w="2281646">
                <a:moveTo>
                  <a:pt x="0" y="0"/>
                </a:moveTo>
                <a:lnTo>
                  <a:pt x="2281647" y="0"/>
                </a:lnTo>
                <a:lnTo>
                  <a:pt x="2281647" y="2281646"/>
                </a:lnTo>
                <a:lnTo>
                  <a:pt x="0" y="22816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2655" y="2697922"/>
            <a:ext cx="526045" cy="526045"/>
          </a:xfrm>
          <a:custGeom>
            <a:avLst/>
            <a:gdLst/>
            <a:ahLst/>
            <a:cxnLst/>
            <a:rect r="r" b="b" t="t" l="l"/>
            <a:pathLst>
              <a:path h="526045" w="526045">
                <a:moveTo>
                  <a:pt x="0" y="0"/>
                </a:moveTo>
                <a:lnTo>
                  <a:pt x="526045" y="0"/>
                </a:lnTo>
                <a:lnTo>
                  <a:pt x="526045" y="526045"/>
                </a:lnTo>
                <a:lnTo>
                  <a:pt x="0" y="526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487881" y="4617455"/>
            <a:ext cx="8005996" cy="6813294"/>
            <a:chOff x="0" y="0"/>
            <a:chExt cx="2108575" cy="17944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08575" cy="1794448"/>
            </a:xfrm>
            <a:custGeom>
              <a:avLst/>
              <a:gdLst/>
              <a:ahLst/>
              <a:cxnLst/>
              <a:rect r="r" b="b" t="t" l="l"/>
              <a:pathLst>
                <a:path h="1794448" w="2108575">
                  <a:moveTo>
                    <a:pt x="96702" y="0"/>
                  </a:moveTo>
                  <a:lnTo>
                    <a:pt x="2011874" y="0"/>
                  </a:lnTo>
                  <a:cubicBezTo>
                    <a:pt x="2037520" y="0"/>
                    <a:pt x="2062117" y="10188"/>
                    <a:pt x="2080252" y="28323"/>
                  </a:cubicBezTo>
                  <a:cubicBezTo>
                    <a:pt x="2098387" y="46458"/>
                    <a:pt x="2108575" y="71055"/>
                    <a:pt x="2108575" y="96702"/>
                  </a:cubicBezTo>
                  <a:lnTo>
                    <a:pt x="2108575" y="1697746"/>
                  </a:lnTo>
                  <a:cubicBezTo>
                    <a:pt x="2108575" y="1723393"/>
                    <a:pt x="2098387" y="1747989"/>
                    <a:pt x="2080252" y="1766124"/>
                  </a:cubicBezTo>
                  <a:cubicBezTo>
                    <a:pt x="2062117" y="1784260"/>
                    <a:pt x="2037520" y="1794448"/>
                    <a:pt x="2011874" y="1794448"/>
                  </a:cubicBezTo>
                  <a:lnTo>
                    <a:pt x="96702" y="1794448"/>
                  </a:lnTo>
                  <a:cubicBezTo>
                    <a:pt x="71055" y="1794448"/>
                    <a:pt x="46458" y="1784260"/>
                    <a:pt x="28323" y="1766124"/>
                  </a:cubicBezTo>
                  <a:cubicBezTo>
                    <a:pt x="10188" y="1747989"/>
                    <a:pt x="0" y="1723393"/>
                    <a:pt x="0" y="1697746"/>
                  </a:cubicBezTo>
                  <a:lnTo>
                    <a:pt x="0" y="96702"/>
                  </a:lnTo>
                  <a:cubicBezTo>
                    <a:pt x="0" y="71055"/>
                    <a:pt x="10188" y="46458"/>
                    <a:pt x="28323" y="28323"/>
                  </a:cubicBezTo>
                  <a:cubicBezTo>
                    <a:pt x="46458" y="10188"/>
                    <a:pt x="71055" y="0"/>
                    <a:pt x="96702" y="0"/>
                  </a:cubicBezTo>
                  <a:close/>
                </a:path>
              </a:pathLst>
            </a:custGeom>
            <a:solidFill>
              <a:srgbClr val="06532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08575" cy="18325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045608" y="1028700"/>
            <a:ext cx="3213692" cy="7132653"/>
            <a:chOff x="0" y="0"/>
            <a:chExt cx="2858770" cy="6344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58770" cy="6344920"/>
            </a:xfrm>
            <a:custGeom>
              <a:avLst/>
              <a:gdLst/>
              <a:ahLst/>
              <a:cxnLst/>
              <a:rect r="r" b="b" t="t" l="l"/>
              <a:pathLst>
                <a:path h="6344920" w="2858770">
                  <a:moveTo>
                    <a:pt x="1827530" y="6344920"/>
                  </a:moveTo>
                  <a:lnTo>
                    <a:pt x="0" y="6344920"/>
                  </a:lnTo>
                  <a:lnTo>
                    <a:pt x="0" y="1031240"/>
                  </a:lnTo>
                  <a:cubicBezTo>
                    <a:pt x="0" y="461010"/>
                    <a:pt x="461010" y="0"/>
                    <a:pt x="1031240" y="0"/>
                  </a:cubicBezTo>
                  <a:lnTo>
                    <a:pt x="2858770" y="0"/>
                  </a:lnTo>
                  <a:lnTo>
                    <a:pt x="2858770" y="5313680"/>
                  </a:lnTo>
                  <a:cubicBezTo>
                    <a:pt x="2858770" y="5883910"/>
                    <a:pt x="2397760" y="6344920"/>
                    <a:pt x="1827530" y="6344920"/>
                  </a:cubicBezTo>
                  <a:close/>
                </a:path>
              </a:pathLst>
            </a:custGeom>
            <a:blipFill>
              <a:blip r:embed="rId4"/>
              <a:stretch>
                <a:fillRect l="-116876" t="0" r="-116876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795520" y="2476981"/>
            <a:ext cx="3213692" cy="7132653"/>
            <a:chOff x="0" y="0"/>
            <a:chExt cx="2858770" cy="6344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58770" cy="6344920"/>
            </a:xfrm>
            <a:custGeom>
              <a:avLst/>
              <a:gdLst/>
              <a:ahLst/>
              <a:cxnLst/>
              <a:rect r="r" b="b" t="t" l="l"/>
              <a:pathLst>
                <a:path h="6344920" w="2858770">
                  <a:moveTo>
                    <a:pt x="1827530" y="6344920"/>
                  </a:moveTo>
                  <a:lnTo>
                    <a:pt x="0" y="6344920"/>
                  </a:lnTo>
                  <a:lnTo>
                    <a:pt x="0" y="1031240"/>
                  </a:lnTo>
                  <a:cubicBezTo>
                    <a:pt x="0" y="461010"/>
                    <a:pt x="461010" y="0"/>
                    <a:pt x="1031240" y="0"/>
                  </a:cubicBezTo>
                  <a:lnTo>
                    <a:pt x="2858770" y="0"/>
                  </a:lnTo>
                  <a:lnTo>
                    <a:pt x="2858770" y="5313680"/>
                  </a:lnTo>
                  <a:cubicBezTo>
                    <a:pt x="2858770" y="5883910"/>
                    <a:pt x="2397760" y="6344920"/>
                    <a:pt x="1827530" y="6344920"/>
                  </a:cubicBezTo>
                  <a:close/>
                </a:path>
              </a:pathLst>
            </a:custGeom>
            <a:blipFill>
              <a:blip r:embed="rId5"/>
              <a:stretch>
                <a:fillRect l="-217352" t="0" r="-1640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349235">
            <a:off x="12076198" y="2258515"/>
            <a:ext cx="8594036" cy="7750258"/>
          </a:xfrm>
          <a:custGeom>
            <a:avLst/>
            <a:gdLst/>
            <a:ahLst/>
            <a:cxnLst/>
            <a:rect r="r" b="b" t="t" l="l"/>
            <a:pathLst>
              <a:path h="7750258" w="8594036">
                <a:moveTo>
                  <a:pt x="0" y="0"/>
                </a:moveTo>
                <a:lnTo>
                  <a:pt x="8594036" y="0"/>
                </a:lnTo>
                <a:lnTo>
                  <a:pt x="8594036" y="7750258"/>
                </a:lnTo>
                <a:lnTo>
                  <a:pt x="0" y="77502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462012" y="-582051"/>
            <a:ext cx="2281646" cy="2281646"/>
          </a:xfrm>
          <a:custGeom>
            <a:avLst/>
            <a:gdLst/>
            <a:ahLst/>
            <a:cxnLst/>
            <a:rect r="r" b="b" t="t" l="l"/>
            <a:pathLst>
              <a:path h="2281646" w="2281646">
                <a:moveTo>
                  <a:pt x="0" y="0"/>
                </a:moveTo>
                <a:lnTo>
                  <a:pt x="2281646" y="0"/>
                </a:lnTo>
                <a:lnTo>
                  <a:pt x="2281646" y="2281646"/>
                </a:lnTo>
                <a:lnTo>
                  <a:pt x="0" y="22816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78811" y="311122"/>
            <a:ext cx="8756090" cy="2182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3"/>
              </a:lnSpc>
              <a:spcBef>
                <a:spcPct val="0"/>
              </a:spcBef>
            </a:pPr>
            <a:r>
              <a:rPr lang="en-US" b="true" sz="7203">
                <a:solidFill>
                  <a:srgbClr val="151D1F"/>
                </a:solidFill>
                <a:latin typeface="Garet Bold"/>
                <a:ea typeface="Garet Bold"/>
                <a:cs typeface="Garet Bold"/>
                <a:sym typeface="Garet Bold"/>
              </a:rPr>
              <a:t>Success looks like...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47618" y="3385892"/>
            <a:ext cx="8987283" cy="626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151D1F"/>
                </a:solidFill>
                <a:latin typeface="Garet Bold"/>
                <a:ea typeface="Garet Bold"/>
                <a:cs typeface="Garet Bold"/>
                <a:sym typeface="Garet Bold"/>
              </a:rPr>
              <a:t>Evidence-based and structured drought relief: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51D1F"/>
                </a:solidFill>
                <a:latin typeface="Garet"/>
                <a:ea typeface="Garet"/>
                <a:cs typeface="Garet"/>
                <a:sym typeface="Garet"/>
              </a:rPr>
              <a:t>() </a:t>
            </a:r>
            <a:r>
              <a:rPr lang="en-US" sz="2400">
                <a:solidFill>
                  <a:srgbClr val="151D1F"/>
                </a:solidFill>
                <a:latin typeface="Garet"/>
                <a:ea typeface="Garet"/>
                <a:cs typeface="Garet"/>
                <a:sym typeface="Garet"/>
              </a:rPr>
              <a:t>County report cards show historical drought conditions and crop yield losses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51D1F"/>
                </a:solidFill>
                <a:latin typeface="Garet"/>
                <a:ea typeface="Garet"/>
                <a:cs typeface="Garet"/>
                <a:sym typeface="Garet"/>
              </a:rPr>
              <a:t>() </a:t>
            </a:r>
            <a:r>
              <a:rPr lang="en-US" sz="2400">
                <a:solidFill>
                  <a:srgbClr val="151D1F"/>
                </a:solidFill>
                <a:latin typeface="Garet"/>
                <a:ea typeface="Garet"/>
                <a:cs typeface="Garet"/>
                <a:sym typeface="Garet"/>
              </a:rPr>
              <a:t>A ranking model developed using 2000–2015 data identifies severe yield losses in unseen data from 2016–2025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51D1F"/>
                </a:solidFill>
                <a:latin typeface="Garet"/>
                <a:ea typeface="Garet"/>
                <a:cs typeface="Garet"/>
                <a:sym typeface="Garet"/>
              </a:rPr>
              <a:t>() </a:t>
            </a:r>
            <a:r>
              <a:rPr lang="en-US" sz="2400">
                <a:solidFill>
                  <a:srgbClr val="151D1F"/>
                </a:solidFill>
                <a:latin typeface="Garet"/>
                <a:ea typeface="Garet"/>
                <a:cs typeface="Garet"/>
                <a:sym typeface="Garet"/>
              </a:rPr>
              <a:t>Rankings outperform simpler approaches, such as random allocation or prioritizing rainfall shortages alone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51D1F"/>
                </a:solidFill>
                <a:latin typeface="Garet"/>
                <a:ea typeface="Garet"/>
                <a:cs typeface="Garet"/>
                <a:sym typeface="Garet"/>
              </a:rPr>
              <a:t>() </a:t>
            </a:r>
            <a:r>
              <a:rPr lang="en-US" sz="2400">
                <a:solidFill>
                  <a:srgbClr val="151D1F"/>
                </a:solidFill>
                <a:latin typeface="Garet"/>
                <a:ea typeface="Garet"/>
                <a:cs typeface="Garet"/>
                <a:sym typeface="Garet"/>
              </a:rPr>
              <a:t>An interactive Streamlit dashboard lets officials explore county rankings, historical trends, and assistance thresholds without writing code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939058" cy="10287000"/>
            <a:chOff x="0" y="0"/>
            <a:chExt cx="122996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2996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229968">
                  <a:moveTo>
                    <a:pt x="0" y="0"/>
                  </a:moveTo>
                  <a:lnTo>
                    <a:pt x="1229968" y="0"/>
                  </a:lnTo>
                  <a:lnTo>
                    <a:pt x="122996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47241" t="0" r="-4724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-10800000">
            <a:off x="-452993" y="0"/>
            <a:ext cx="8392051" cy="10287000"/>
          </a:xfrm>
          <a:custGeom>
            <a:avLst/>
            <a:gdLst/>
            <a:ahLst/>
            <a:cxnLst/>
            <a:rect r="r" b="b" t="t" l="l"/>
            <a:pathLst>
              <a:path h="10287000" w="8392051">
                <a:moveTo>
                  <a:pt x="0" y="0"/>
                </a:moveTo>
                <a:lnTo>
                  <a:pt x="8392051" y="0"/>
                </a:lnTo>
                <a:lnTo>
                  <a:pt x="839205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258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49235">
            <a:off x="-2214927" y="5898317"/>
            <a:ext cx="8594036" cy="7750258"/>
          </a:xfrm>
          <a:custGeom>
            <a:avLst/>
            <a:gdLst/>
            <a:ahLst/>
            <a:cxnLst/>
            <a:rect r="r" b="b" t="t" l="l"/>
            <a:pathLst>
              <a:path h="7750258" w="8594036">
                <a:moveTo>
                  <a:pt x="0" y="0"/>
                </a:moveTo>
                <a:lnTo>
                  <a:pt x="8594035" y="0"/>
                </a:lnTo>
                <a:lnTo>
                  <a:pt x="8594035" y="7750258"/>
                </a:lnTo>
                <a:lnTo>
                  <a:pt x="0" y="7750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44532" y="1247757"/>
            <a:ext cx="7049993" cy="2132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27"/>
              </a:lnSpc>
            </a:pPr>
            <a:r>
              <a:rPr lang="en-US" sz="7203" b="true">
                <a:solidFill>
                  <a:srgbClr val="FAD955"/>
                </a:solidFill>
                <a:latin typeface="Garet Bold"/>
                <a:ea typeface="Garet Bold"/>
                <a:cs typeface="Garet Bold"/>
                <a:sym typeface="Garet Bold"/>
              </a:rPr>
              <a:t>Start --&gt; Go Further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218351" y="159402"/>
            <a:ext cx="9940199" cy="3086100"/>
            <a:chOff x="0" y="0"/>
            <a:chExt cx="13253599" cy="41148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4114800" cy="4114800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684859"/>
                    </a:lnTo>
                    <a:cubicBezTo>
                      <a:pt x="812800" y="718791"/>
                      <a:pt x="799321" y="751333"/>
                      <a:pt x="775327" y="775327"/>
                    </a:cubicBezTo>
                    <a:cubicBezTo>
                      <a:pt x="751333" y="799321"/>
                      <a:pt x="718791" y="812800"/>
                      <a:pt x="684859" y="812800"/>
                    </a:cubicBezTo>
                    <a:lnTo>
                      <a:pt x="127941" y="812800"/>
                    </a:lnTo>
                    <a:cubicBezTo>
                      <a:pt x="94009" y="812800"/>
                      <a:pt x="61467" y="799321"/>
                      <a:pt x="37473" y="775327"/>
                    </a:cubicBezTo>
                    <a:cubicBezTo>
                      <a:pt x="13479" y="751333"/>
                      <a:pt x="0" y="718791"/>
                      <a:pt x="0" y="684859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94B9DB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4655699" y="1028700"/>
              <a:ext cx="4114800" cy="2057400"/>
              <a:chOff x="0" y="0"/>
              <a:chExt cx="812800" cy="4064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812800">
                    <a:moveTo>
                      <a:pt x="0" y="0"/>
                    </a:moveTo>
                    <a:lnTo>
                      <a:pt x="609600" y="0"/>
                    </a:lnTo>
                    <a:lnTo>
                      <a:pt x="812800" y="203200"/>
                    </a:lnTo>
                    <a:lnTo>
                      <a:pt x="609600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1D9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77800" y="-38100"/>
                <a:ext cx="55880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9138799" y="0"/>
              <a:ext cx="4114800" cy="4114800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684859"/>
                    </a:lnTo>
                    <a:cubicBezTo>
                      <a:pt x="812800" y="718791"/>
                      <a:pt x="799321" y="751333"/>
                      <a:pt x="775327" y="775327"/>
                    </a:cubicBezTo>
                    <a:cubicBezTo>
                      <a:pt x="751333" y="799321"/>
                      <a:pt x="718791" y="812800"/>
                      <a:pt x="684859" y="812800"/>
                    </a:cubicBezTo>
                    <a:lnTo>
                      <a:pt x="127941" y="812800"/>
                    </a:lnTo>
                    <a:cubicBezTo>
                      <a:pt x="94009" y="812800"/>
                      <a:pt x="61467" y="799321"/>
                      <a:pt x="37473" y="775327"/>
                    </a:cubicBezTo>
                    <a:cubicBezTo>
                      <a:pt x="13479" y="751333"/>
                      <a:pt x="0" y="718791"/>
                      <a:pt x="0" y="684859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94B9DB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172259" y="662940"/>
              <a:ext cx="3770281" cy="27508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Build county report cards using historical drought and crop yield data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9316599" y="383540"/>
              <a:ext cx="3770281" cy="3309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Develop a ranking model to prioritize counties for emergency funding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18351" y="3600450"/>
            <a:ext cx="9940199" cy="3086100"/>
            <a:chOff x="0" y="0"/>
            <a:chExt cx="13253599" cy="41148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4114800" cy="4114800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684859"/>
                    </a:lnTo>
                    <a:cubicBezTo>
                      <a:pt x="812800" y="718791"/>
                      <a:pt x="799321" y="751333"/>
                      <a:pt x="775327" y="775327"/>
                    </a:cubicBezTo>
                    <a:cubicBezTo>
                      <a:pt x="751333" y="799321"/>
                      <a:pt x="718791" y="812800"/>
                      <a:pt x="684859" y="812800"/>
                    </a:cubicBezTo>
                    <a:lnTo>
                      <a:pt x="127941" y="812800"/>
                    </a:lnTo>
                    <a:cubicBezTo>
                      <a:pt x="94009" y="812800"/>
                      <a:pt x="61467" y="799321"/>
                      <a:pt x="37473" y="775327"/>
                    </a:cubicBezTo>
                    <a:cubicBezTo>
                      <a:pt x="13479" y="751333"/>
                      <a:pt x="0" y="718791"/>
                      <a:pt x="0" y="684859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94B9DB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4655699" y="1028700"/>
              <a:ext cx="4114800" cy="2057400"/>
              <a:chOff x="0" y="0"/>
              <a:chExt cx="812800" cy="4064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812800">
                    <a:moveTo>
                      <a:pt x="0" y="0"/>
                    </a:moveTo>
                    <a:lnTo>
                      <a:pt x="609600" y="0"/>
                    </a:lnTo>
                    <a:lnTo>
                      <a:pt x="812800" y="203200"/>
                    </a:lnTo>
                    <a:lnTo>
                      <a:pt x="609600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1D9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177800" y="-38100"/>
                <a:ext cx="55880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9138799" y="0"/>
              <a:ext cx="4114800" cy="4114800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684859"/>
                    </a:lnTo>
                    <a:cubicBezTo>
                      <a:pt x="812800" y="718791"/>
                      <a:pt x="799321" y="751333"/>
                      <a:pt x="775327" y="775327"/>
                    </a:cubicBezTo>
                    <a:cubicBezTo>
                      <a:pt x="751333" y="799321"/>
                      <a:pt x="718791" y="812800"/>
                      <a:pt x="684859" y="812800"/>
                    </a:cubicBezTo>
                    <a:lnTo>
                      <a:pt x="127941" y="812800"/>
                    </a:lnTo>
                    <a:cubicBezTo>
                      <a:pt x="94009" y="812800"/>
                      <a:pt x="61467" y="799321"/>
                      <a:pt x="37473" y="775327"/>
                    </a:cubicBezTo>
                    <a:cubicBezTo>
                      <a:pt x="13479" y="751333"/>
                      <a:pt x="0" y="718791"/>
                      <a:pt x="0" y="684859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94B9DB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172259" y="662940"/>
              <a:ext cx="3770281" cy="163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Develop rankings using 2000–2015 data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9316599" y="104140"/>
              <a:ext cx="3770281" cy="3868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Test their performance on unseen data from 2016–2025 and compare them with simpler approaches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18351" y="7038975"/>
            <a:ext cx="9940199" cy="3086100"/>
            <a:chOff x="0" y="0"/>
            <a:chExt cx="13253599" cy="411480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4114800" cy="4114800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684859"/>
                    </a:lnTo>
                    <a:cubicBezTo>
                      <a:pt x="812800" y="718791"/>
                      <a:pt x="799321" y="751333"/>
                      <a:pt x="775327" y="775327"/>
                    </a:cubicBezTo>
                    <a:cubicBezTo>
                      <a:pt x="751333" y="799321"/>
                      <a:pt x="718791" y="812800"/>
                      <a:pt x="684859" y="812800"/>
                    </a:cubicBezTo>
                    <a:lnTo>
                      <a:pt x="127941" y="812800"/>
                    </a:lnTo>
                    <a:cubicBezTo>
                      <a:pt x="94009" y="812800"/>
                      <a:pt x="61467" y="799321"/>
                      <a:pt x="37473" y="775327"/>
                    </a:cubicBezTo>
                    <a:cubicBezTo>
                      <a:pt x="13479" y="751333"/>
                      <a:pt x="0" y="718791"/>
                      <a:pt x="0" y="684859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94B9DB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4655699" y="1028700"/>
              <a:ext cx="4114800" cy="2057400"/>
              <a:chOff x="0" y="0"/>
              <a:chExt cx="812800" cy="4064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812800">
                    <a:moveTo>
                      <a:pt x="0" y="0"/>
                    </a:moveTo>
                    <a:lnTo>
                      <a:pt x="609600" y="0"/>
                    </a:lnTo>
                    <a:lnTo>
                      <a:pt x="812800" y="203200"/>
                    </a:lnTo>
                    <a:lnTo>
                      <a:pt x="609600" y="406400"/>
                    </a:lnTo>
                    <a:lnTo>
                      <a:pt x="0" y="406400"/>
                    </a:lnTo>
                    <a:lnTo>
                      <a:pt x="203200" y="2032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1D9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177800" y="-38100"/>
                <a:ext cx="558800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9138799" y="0"/>
              <a:ext cx="4114800" cy="4114800"/>
              <a:chOff x="0" y="0"/>
              <a:chExt cx="812800" cy="8128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684859"/>
                    </a:lnTo>
                    <a:cubicBezTo>
                      <a:pt x="812800" y="718791"/>
                      <a:pt x="799321" y="751333"/>
                      <a:pt x="775327" y="775327"/>
                    </a:cubicBezTo>
                    <a:cubicBezTo>
                      <a:pt x="751333" y="799321"/>
                      <a:pt x="718791" y="812800"/>
                      <a:pt x="684859" y="812800"/>
                    </a:cubicBezTo>
                    <a:lnTo>
                      <a:pt x="127941" y="812800"/>
                    </a:lnTo>
                    <a:cubicBezTo>
                      <a:pt x="94009" y="812800"/>
                      <a:pt x="61467" y="799321"/>
                      <a:pt x="37473" y="775327"/>
                    </a:cubicBezTo>
                    <a:cubicBezTo>
                      <a:pt x="13479" y="751333"/>
                      <a:pt x="0" y="718791"/>
                      <a:pt x="0" y="684859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94B9DB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41" id="41"/>
            <p:cNvSpPr txBox="true"/>
            <p:nvPr/>
          </p:nvSpPr>
          <p:spPr>
            <a:xfrm rot="0">
              <a:off x="172259" y="662940"/>
              <a:ext cx="3770281" cy="27508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Display county rankings and historical trends in a Streamlit dashboard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9316599" y="383540"/>
              <a:ext cx="3770281" cy="3309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400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Add precise assistance thresholds and show which counties meet them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26425" y="0"/>
            <a:ext cx="8261575" cy="10287000"/>
            <a:chOff x="0" y="0"/>
            <a:chExt cx="217588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5888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5888">
                  <a:moveTo>
                    <a:pt x="0" y="0"/>
                  </a:moveTo>
                  <a:lnTo>
                    <a:pt x="2175888" y="0"/>
                  </a:lnTo>
                  <a:lnTo>
                    <a:pt x="217588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6532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75888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508106" y="1055098"/>
            <a:ext cx="5246370" cy="3830036"/>
            <a:chOff x="0" y="0"/>
            <a:chExt cx="812800" cy="5933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593373"/>
            </a:xfrm>
            <a:custGeom>
              <a:avLst/>
              <a:gdLst/>
              <a:ahLst/>
              <a:cxnLst/>
              <a:rect r="r" b="b" t="t" l="l"/>
              <a:pathLst>
                <a:path h="59337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593373"/>
                  </a:lnTo>
                  <a:lnTo>
                    <a:pt x="0" y="593373"/>
                  </a:lnTo>
                  <a:close/>
                </a:path>
              </a:pathLst>
            </a:custGeom>
            <a:blipFill>
              <a:blip r:embed="rId2"/>
              <a:stretch>
                <a:fillRect l="0" t="-11812" r="0" b="-11812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10426832">
            <a:off x="-1792469" y="6933678"/>
            <a:ext cx="8594036" cy="7750258"/>
          </a:xfrm>
          <a:custGeom>
            <a:avLst/>
            <a:gdLst/>
            <a:ahLst/>
            <a:cxnLst/>
            <a:rect r="r" b="b" t="t" l="l"/>
            <a:pathLst>
              <a:path h="7750258" w="8594036">
                <a:moveTo>
                  <a:pt x="0" y="0"/>
                </a:moveTo>
                <a:lnTo>
                  <a:pt x="8594036" y="0"/>
                </a:lnTo>
                <a:lnTo>
                  <a:pt x="8594036" y="7750258"/>
                </a:lnTo>
                <a:lnTo>
                  <a:pt x="0" y="77502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679688" y="-1140823"/>
            <a:ext cx="2281646" cy="2281646"/>
          </a:xfrm>
          <a:custGeom>
            <a:avLst/>
            <a:gdLst/>
            <a:ahLst/>
            <a:cxnLst/>
            <a:rect r="r" b="b" t="t" l="l"/>
            <a:pathLst>
              <a:path h="2281646" w="2281646">
                <a:moveTo>
                  <a:pt x="0" y="0"/>
                </a:moveTo>
                <a:lnTo>
                  <a:pt x="2281647" y="0"/>
                </a:lnTo>
                <a:lnTo>
                  <a:pt x="2281647" y="2281646"/>
                </a:lnTo>
                <a:lnTo>
                  <a:pt x="0" y="22816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79232" y="1038225"/>
            <a:ext cx="6816864" cy="3278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3"/>
              </a:lnSpc>
            </a:pPr>
            <a:r>
              <a:rPr lang="en-US" sz="7203" b="true">
                <a:solidFill>
                  <a:srgbClr val="151D1F"/>
                </a:solidFill>
                <a:latin typeface="Garet Bold"/>
                <a:ea typeface="Garet Bold"/>
                <a:cs typeface="Garet Bold"/>
                <a:sym typeface="Garet Bold"/>
              </a:rPr>
              <a:t>Ex. User : Dana Mitchell</a:t>
            </a:r>
          </a:p>
          <a:p>
            <a:pPr algn="l">
              <a:lnSpc>
                <a:spcPts val="8643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01607" y="5291047"/>
            <a:ext cx="7911212" cy="458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() Works for a state agricultural agency and coordinates emergency drought assistance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() </a:t>
            </a: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Has a limited relief budget and needs to decide which counties receive funding first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() </a:t>
            </a: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Must explain funding recommendations to agency leadership and county agricultural offices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() </a:t>
            </a:r>
            <a:r>
              <a:rPr lang="en-US" sz="24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Needs clear evidence and an easy-to-use dashboard—not a tool that requires coding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9232" y="4056855"/>
            <a:ext cx="9647194" cy="2182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3"/>
              </a:lnSpc>
              <a:spcBef>
                <a:spcPct val="0"/>
              </a:spcBef>
            </a:pPr>
            <a:r>
              <a:rPr lang="en-US" b="true" sz="7203">
                <a:solidFill>
                  <a:srgbClr val="151D1F"/>
                </a:solidFill>
                <a:latin typeface="Garet Bold"/>
                <a:ea typeface="Garet Bold"/>
                <a:cs typeface="Garet Bold"/>
                <a:sym typeface="Garet Bold"/>
              </a:rPr>
              <a:t>State Drought Relief Coordinator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398511" cy="10287000"/>
            <a:chOff x="0" y="0"/>
            <a:chExt cx="1301149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1149" cy="1593725"/>
            </a:xfrm>
            <a:custGeom>
              <a:avLst/>
              <a:gdLst/>
              <a:ahLst/>
              <a:cxnLst/>
              <a:rect r="r" b="b" t="t" l="l"/>
              <a:pathLst>
                <a:path h="1593725" w="1301149">
                  <a:moveTo>
                    <a:pt x="0" y="0"/>
                  </a:moveTo>
                  <a:lnTo>
                    <a:pt x="1301149" y="0"/>
                  </a:lnTo>
                  <a:lnTo>
                    <a:pt x="1301149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0" r="-83843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-10800000">
            <a:off x="0" y="0"/>
            <a:ext cx="8392051" cy="10287000"/>
          </a:xfrm>
          <a:custGeom>
            <a:avLst/>
            <a:gdLst/>
            <a:ahLst/>
            <a:cxnLst/>
            <a:rect r="r" b="b" t="t" l="l"/>
            <a:pathLst>
              <a:path h="10287000" w="8392051">
                <a:moveTo>
                  <a:pt x="0" y="0"/>
                </a:moveTo>
                <a:lnTo>
                  <a:pt x="8392051" y="0"/>
                </a:lnTo>
                <a:lnTo>
                  <a:pt x="839205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258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48518" y="1174415"/>
            <a:ext cx="7049993" cy="2132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27"/>
              </a:lnSpc>
            </a:pPr>
            <a:r>
              <a:rPr lang="en-US" sz="7203" b="true">
                <a:solidFill>
                  <a:srgbClr val="FAD955"/>
                </a:solidFill>
                <a:latin typeface="Garet Bold"/>
                <a:ea typeface="Garet Bold"/>
                <a:cs typeface="Garet Bold"/>
                <a:sym typeface="Garet Bold"/>
              </a:rPr>
              <a:t>How our tool helps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879673" y="4587835"/>
            <a:ext cx="8379627" cy="5006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51D1F"/>
                </a:solidFill>
                <a:latin typeface="Garet"/>
                <a:ea typeface="Garet"/>
                <a:cs typeface="Garet"/>
                <a:sym typeface="Garet"/>
              </a:rPr>
              <a:t>() Provides a report card for each county showing historical drought conditions and crop losses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51D1F"/>
                </a:solidFill>
                <a:latin typeface="Garet"/>
                <a:ea typeface="Garet"/>
                <a:cs typeface="Garet"/>
                <a:sym typeface="Garet"/>
              </a:rPr>
              <a:t>()Ranks counties using a method checked against years not used to develop it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51D1F"/>
                </a:solidFill>
                <a:latin typeface="Garet"/>
                <a:ea typeface="Garet"/>
                <a:cs typeface="Garet"/>
                <a:sym typeface="Garet"/>
              </a:rPr>
              <a:t>() Shows which counties meet the proposed assistance threshold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51D1F"/>
                </a:solidFill>
                <a:latin typeface="Garet"/>
                <a:ea typeface="Garet"/>
                <a:cs typeface="Garet"/>
                <a:sym typeface="Garet"/>
              </a:rPr>
              <a:t>() Makes the evidence behind each recommendation visible so Dana can explain her decisions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349235">
            <a:off x="-2214927" y="5898317"/>
            <a:ext cx="8594036" cy="7750258"/>
          </a:xfrm>
          <a:custGeom>
            <a:avLst/>
            <a:gdLst/>
            <a:ahLst/>
            <a:cxnLst/>
            <a:rect r="r" b="b" t="t" l="l"/>
            <a:pathLst>
              <a:path h="7750258" w="8594036">
                <a:moveTo>
                  <a:pt x="0" y="0"/>
                </a:moveTo>
                <a:lnTo>
                  <a:pt x="8594035" y="0"/>
                </a:lnTo>
                <a:lnTo>
                  <a:pt x="8594035" y="7750258"/>
                </a:lnTo>
                <a:lnTo>
                  <a:pt x="0" y="7750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349235">
            <a:off x="12458492" y="-3214240"/>
            <a:ext cx="8594036" cy="7750258"/>
          </a:xfrm>
          <a:custGeom>
            <a:avLst/>
            <a:gdLst/>
            <a:ahLst/>
            <a:cxnLst/>
            <a:rect r="r" b="b" t="t" l="l"/>
            <a:pathLst>
              <a:path h="7750258" w="8594036">
                <a:moveTo>
                  <a:pt x="0" y="0"/>
                </a:moveTo>
                <a:lnTo>
                  <a:pt x="8594035" y="0"/>
                </a:lnTo>
                <a:lnTo>
                  <a:pt x="8594035" y="7750258"/>
                </a:lnTo>
                <a:lnTo>
                  <a:pt x="0" y="77502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26425" y="0"/>
            <a:ext cx="8261575" cy="10287000"/>
            <a:chOff x="0" y="0"/>
            <a:chExt cx="217588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5888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5888">
                  <a:moveTo>
                    <a:pt x="0" y="0"/>
                  </a:moveTo>
                  <a:lnTo>
                    <a:pt x="2175888" y="0"/>
                  </a:lnTo>
                  <a:lnTo>
                    <a:pt x="217588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6532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75888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508106" y="1619086"/>
            <a:ext cx="5246370" cy="3830036"/>
            <a:chOff x="0" y="0"/>
            <a:chExt cx="812800" cy="5933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593373"/>
            </a:xfrm>
            <a:custGeom>
              <a:avLst/>
              <a:gdLst/>
              <a:ahLst/>
              <a:cxnLst/>
              <a:rect r="r" b="b" t="t" l="l"/>
              <a:pathLst>
                <a:path h="59337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593373"/>
                  </a:lnTo>
                  <a:lnTo>
                    <a:pt x="0" y="593373"/>
                  </a:lnTo>
                  <a:close/>
                </a:path>
              </a:pathLst>
            </a:custGeom>
            <a:blipFill>
              <a:blip r:embed="rId2"/>
              <a:stretch>
                <a:fillRect l="-14892" t="0" r="-14892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10426832">
            <a:off x="-1792469" y="6933678"/>
            <a:ext cx="8594036" cy="7750258"/>
          </a:xfrm>
          <a:custGeom>
            <a:avLst/>
            <a:gdLst/>
            <a:ahLst/>
            <a:cxnLst/>
            <a:rect r="r" b="b" t="t" l="l"/>
            <a:pathLst>
              <a:path h="7750258" w="8594036">
                <a:moveTo>
                  <a:pt x="0" y="0"/>
                </a:moveTo>
                <a:lnTo>
                  <a:pt x="8594036" y="0"/>
                </a:lnTo>
                <a:lnTo>
                  <a:pt x="8594036" y="7750258"/>
                </a:lnTo>
                <a:lnTo>
                  <a:pt x="0" y="77502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679688" y="-1140823"/>
            <a:ext cx="2281646" cy="2281646"/>
          </a:xfrm>
          <a:custGeom>
            <a:avLst/>
            <a:gdLst/>
            <a:ahLst/>
            <a:cxnLst/>
            <a:rect r="r" b="b" t="t" l="l"/>
            <a:pathLst>
              <a:path h="2281646" w="2281646">
                <a:moveTo>
                  <a:pt x="0" y="0"/>
                </a:moveTo>
                <a:lnTo>
                  <a:pt x="2281647" y="0"/>
                </a:lnTo>
                <a:lnTo>
                  <a:pt x="2281647" y="2281646"/>
                </a:lnTo>
                <a:lnTo>
                  <a:pt x="0" y="22816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03653" y="1431002"/>
            <a:ext cx="5740151" cy="1086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3"/>
              </a:lnSpc>
              <a:spcBef>
                <a:spcPct val="0"/>
              </a:spcBef>
            </a:pPr>
            <a:r>
              <a:rPr lang="en-US" b="true" sz="7203">
                <a:solidFill>
                  <a:srgbClr val="151D1F"/>
                </a:solidFill>
                <a:latin typeface="Garet Bold"/>
                <a:ea typeface="Garet Bold"/>
                <a:cs typeface="Garet Bold"/>
                <a:sym typeface="Garet Bold"/>
              </a:rPr>
              <a:t>Demo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3286" y="3438854"/>
            <a:ext cx="7196095" cy="3621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61"/>
              </a:lnSpc>
            </a:pPr>
            <a:r>
              <a:rPr lang="en-US" b="true" sz="5186" u="sng">
                <a:solidFill>
                  <a:srgbClr val="151D1F"/>
                </a:solidFill>
                <a:latin typeface="Canva Sans Bold"/>
                <a:ea typeface="Canva Sans Bold"/>
                <a:cs typeface="Canva Sans Bold"/>
                <a:sym typeface="Canva Sans Bold"/>
                <a:hlinkClick r:id="rId7" tooltip="https://ms-cc-org.github.io/DSU-Hackathon-2026-Geek-Squad/"/>
              </a:rPr>
              <a:t>https://ms-cc-org.github.io/DSU-Hackathon-2026-Geek-Squad/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32941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050033" y="627143"/>
            <a:ext cx="12238688" cy="14419662"/>
          </a:xfrm>
          <a:custGeom>
            <a:avLst/>
            <a:gdLst/>
            <a:ahLst/>
            <a:cxnLst/>
            <a:rect r="r" b="b" t="t" l="l"/>
            <a:pathLst>
              <a:path h="14419662" w="12238688">
                <a:moveTo>
                  <a:pt x="0" y="0"/>
                </a:moveTo>
                <a:lnTo>
                  <a:pt x="12238689" y="0"/>
                </a:lnTo>
                <a:lnTo>
                  <a:pt x="12238689" y="14419663"/>
                </a:lnTo>
                <a:lnTo>
                  <a:pt x="0" y="144196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-2448162" y="-3996202"/>
            <a:ext cx="12238688" cy="14419662"/>
          </a:xfrm>
          <a:custGeom>
            <a:avLst/>
            <a:gdLst/>
            <a:ahLst/>
            <a:cxnLst/>
            <a:rect r="r" b="b" t="t" l="l"/>
            <a:pathLst>
              <a:path h="14419662" w="12238688">
                <a:moveTo>
                  <a:pt x="0" y="0"/>
                </a:moveTo>
                <a:lnTo>
                  <a:pt x="12238688" y="0"/>
                </a:lnTo>
                <a:lnTo>
                  <a:pt x="12238688" y="14419663"/>
                </a:lnTo>
                <a:lnTo>
                  <a:pt x="0" y="144196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349235">
            <a:off x="-864908" y="-4290068"/>
            <a:ext cx="7947578" cy="7167270"/>
          </a:xfrm>
          <a:custGeom>
            <a:avLst/>
            <a:gdLst/>
            <a:ahLst/>
            <a:cxnLst/>
            <a:rect r="r" b="b" t="t" l="l"/>
            <a:pathLst>
              <a:path h="7167270" w="7947578">
                <a:moveTo>
                  <a:pt x="0" y="0"/>
                </a:moveTo>
                <a:lnTo>
                  <a:pt x="7947578" y="0"/>
                </a:lnTo>
                <a:lnTo>
                  <a:pt x="7947578" y="7167271"/>
                </a:lnTo>
                <a:lnTo>
                  <a:pt x="0" y="71672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349235">
            <a:off x="13701316" y="911210"/>
            <a:ext cx="8594036" cy="7750258"/>
          </a:xfrm>
          <a:custGeom>
            <a:avLst/>
            <a:gdLst/>
            <a:ahLst/>
            <a:cxnLst/>
            <a:rect r="r" b="b" t="t" l="l"/>
            <a:pathLst>
              <a:path h="7750258" w="8594036">
                <a:moveTo>
                  <a:pt x="0" y="0"/>
                </a:moveTo>
                <a:lnTo>
                  <a:pt x="8594036" y="0"/>
                </a:lnTo>
                <a:lnTo>
                  <a:pt x="8594036" y="7750257"/>
                </a:lnTo>
                <a:lnTo>
                  <a:pt x="0" y="77502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676635" y="3500463"/>
            <a:ext cx="11582665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  <a:spcBef>
                <a:spcPct val="0"/>
              </a:spcBef>
            </a:pPr>
            <a:r>
              <a:rPr lang="en-US" b="true" sz="8499">
                <a:solidFill>
                  <a:srgbClr val="FAD955"/>
                </a:solidFill>
                <a:latin typeface="Garet Bold"/>
                <a:ea typeface="Garet Bold"/>
                <a:cs typeface="Garet Bold"/>
                <a:sym typeface="Garet Bold"/>
              </a:rPr>
              <a:t>Thank You!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2626440" y="9077265"/>
            <a:ext cx="2692391" cy="2692391"/>
          </a:xfrm>
          <a:custGeom>
            <a:avLst/>
            <a:gdLst/>
            <a:ahLst/>
            <a:cxnLst/>
            <a:rect r="r" b="b" t="t" l="l"/>
            <a:pathLst>
              <a:path h="2692391" w="2692391">
                <a:moveTo>
                  <a:pt x="0" y="0"/>
                </a:moveTo>
                <a:lnTo>
                  <a:pt x="2692391" y="0"/>
                </a:lnTo>
                <a:lnTo>
                  <a:pt x="2692391" y="2692391"/>
                </a:lnTo>
                <a:lnTo>
                  <a:pt x="0" y="26923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179517" y="-1252946"/>
            <a:ext cx="2281646" cy="2281646"/>
          </a:xfrm>
          <a:custGeom>
            <a:avLst/>
            <a:gdLst/>
            <a:ahLst/>
            <a:cxnLst/>
            <a:rect r="r" b="b" t="t" l="l"/>
            <a:pathLst>
              <a:path h="2281646" w="2281646">
                <a:moveTo>
                  <a:pt x="0" y="0"/>
                </a:moveTo>
                <a:lnTo>
                  <a:pt x="2281646" y="0"/>
                </a:lnTo>
                <a:lnTo>
                  <a:pt x="2281646" y="2281646"/>
                </a:lnTo>
                <a:lnTo>
                  <a:pt x="0" y="22816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855257" y="5960823"/>
            <a:ext cx="12703491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50"/>
              </a:lnSpc>
            </a:pPr>
            <a:r>
              <a:rPr lang="en-US" sz="7500" b="true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Questions?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DAHYRzAMZeo</dc:identifier>
  <dcterms:modified xsi:type="dcterms:W3CDTF">2011-08-01T06:04:30Z</dcterms:modified>
  <cp:revision>1</cp:revision>
  <dc:title>Green and Yellow Modern Agriculture Presentation</dc:title>
</cp:coreProperties>
</file>