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aret Bold" charset="1" panose="00000000000000000000"/>
      <p:regular r:id="rId14"/>
    </p:embeddedFont>
    <p:embeddedFont>
      <p:font typeface="Garet" charset="1" panose="00000000000000000000"/>
      <p:regular r:id="rId18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Droughts and their triggers, such as rainfall deficits, cause crop losses in some counties. Emergency relief takes a long time to be processed due to outdated systems.</a:t>
            </a:r>
          </a:p>
          <a:p>
            <a:r>
              <a:rPr lang="en-US"/>
              <a:t/>
            </a:r>
          </a:p>
          <a:p>
            <a:r>
              <a:rPr lang="en-US"/>
              <a:t>To address this, we built a dashboard that lets drought relief coordinators identify high-risk areas using 2000-2015 data.</a:t>
            </a:r>
          </a:p>
          <a:p>
            <a:r>
              <a:rPr lang="en-US"/>
              <a:t/>
            </a:r>
          </a:p>
          <a:p>
            <a:r>
              <a:rPr lang="en-US"/>
              <a:t>We displayed our dashboard using GitHub Pages, which will give state officials a fast and clear way to provide accurate drought assistance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decisions drought program officials must make are:</a:t>
            </a:r>
          </a:p>
          <a:p>
            <a:r>
              <a:rPr lang="en-US"/>
              <a:t/>
            </a:r>
          </a:p>
          <a:p>
            <a:r>
              <a:rPr lang="en-US"/>
              <a:t>Which counties should get funding first?</a:t>
            </a:r>
          </a:p>
          <a:p>
            <a:r>
              <a:rPr lang="en-US"/>
              <a:t/>
            </a:r>
          </a:p>
          <a:p>
            <a:r>
              <a:rPr lang="en-US"/>
              <a:t>What metric or threshold triggers assistance?</a:t>
            </a:r>
          </a:p>
          <a:p>
            <a:r>
              <a:rPr lang="en-US"/>
              <a:t/>
            </a:r>
          </a:p>
          <a:p>
            <a:r>
              <a:rPr lang="en-US"/>
              <a:t>Which counties face the most urgent losses related to droughts.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Based on the needs of drought program officials, our success checkpoints are:</a:t>
            </a:r>
          </a:p>
          <a:p>
            <a:r>
              <a:rPr lang="en-US"/>
              <a:t/>
            </a:r>
          </a:p>
          <a:p>
            <a:r>
              <a:rPr lang="en-US"/>
              <a:t>County report cards showing historical drought conditions and crop yield losses</a:t>
            </a:r>
          </a:p>
          <a:p>
            <a:r>
              <a:rPr lang="en-US"/>
              <a:t/>
            </a:r>
          </a:p>
          <a:p>
            <a:r>
              <a:rPr lang="en-US"/>
              <a:t>Ranking model developed from 2000-2015 data that helps identify severe yield losses in unseen data from 2016-2015</a:t>
            </a:r>
          </a:p>
          <a:p>
            <a:r>
              <a:rPr lang="en-US"/>
              <a:t/>
            </a:r>
          </a:p>
          <a:p>
            <a:r>
              <a:rPr lang="en-US"/>
              <a:t>These rankings outperform simpler approaches by giving a specific overview of the data compared to random allocation or rainfall shortage prioritization alone</a:t>
            </a:r>
          </a:p>
          <a:p>
            <a:r>
              <a:rPr lang="en-US"/>
              <a:t/>
            </a:r>
          </a:p>
          <a:p>
            <a:r>
              <a:rPr lang="en-US"/>
              <a:t>The interactive dashboard will let officials see the rankings, but also historical trends and set thresholds for assistance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Our specific user is Dana Mitchell, a state drought relief coordinator. </a:t>
            </a:r>
          </a:p>
          <a:p>
            <a:r>
              <a:rPr lang="en-US"/>
              <a:t/>
            </a:r>
          </a:p>
          <a:p>
            <a:r>
              <a:rPr lang="en-US"/>
              <a:t>She works for a state agricultural agency and is responsible for coordinating emergency drought assistance. </a:t>
            </a:r>
          </a:p>
          <a:p>
            <a:r>
              <a:rPr lang="en-US"/>
              <a:t/>
            </a:r>
          </a:p>
          <a:p>
            <a:r>
              <a:rPr lang="en-US"/>
              <a:t>However, her budget is limited. </a:t>
            </a:r>
          </a:p>
          <a:p>
            <a:r>
              <a:rPr lang="en-US"/>
              <a:t/>
            </a:r>
          </a:p>
          <a:p>
            <a:r>
              <a:rPr lang="en-US"/>
              <a:t>Dana needs to explain her funding recommendations, so her evidence must be clear and easy to present, without requiring any coding skills.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jpeg" Type="http://schemas.openxmlformats.org/officeDocument/2006/relationships/image"/><Relationship Id="rId6" Target="../media/image11.jpe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4.jpe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7.jpeg" Type="http://schemas.openxmlformats.org/officeDocument/2006/relationships/image"/><Relationship Id="rId6" Target="../media/image18.jpe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9.jpe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https://ms-cc-org.github.io/DSU-Hackathon-2026-Geek-Squad/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328491" y="-364894"/>
            <a:ext cx="12238688" cy="14419662"/>
          </a:xfrm>
          <a:custGeom>
            <a:avLst/>
            <a:gdLst/>
            <a:ahLst/>
            <a:cxnLst/>
            <a:rect r="r" b="b" t="t" l="l"/>
            <a:pathLst>
              <a:path h="14419662" w="12238688">
                <a:moveTo>
                  <a:pt x="0" y="0"/>
                </a:moveTo>
                <a:lnTo>
                  <a:pt x="12238688" y="0"/>
                </a:lnTo>
                <a:lnTo>
                  <a:pt x="12238688" y="14419662"/>
                </a:lnTo>
                <a:lnTo>
                  <a:pt x="0" y="14419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2448162" y="-3996202"/>
            <a:ext cx="12238688" cy="14419662"/>
          </a:xfrm>
          <a:custGeom>
            <a:avLst/>
            <a:gdLst/>
            <a:ahLst/>
            <a:cxnLst/>
            <a:rect r="r" b="b" t="t" l="l"/>
            <a:pathLst>
              <a:path h="14419662" w="12238688">
                <a:moveTo>
                  <a:pt x="0" y="0"/>
                </a:moveTo>
                <a:lnTo>
                  <a:pt x="12238688" y="0"/>
                </a:lnTo>
                <a:lnTo>
                  <a:pt x="12238688" y="14419663"/>
                </a:lnTo>
                <a:lnTo>
                  <a:pt x="0" y="1441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49235">
            <a:off x="-864908" y="-4290068"/>
            <a:ext cx="7947578" cy="7167270"/>
          </a:xfrm>
          <a:custGeom>
            <a:avLst/>
            <a:gdLst/>
            <a:ahLst/>
            <a:cxnLst/>
            <a:rect r="r" b="b" t="t" l="l"/>
            <a:pathLst>
              <a:path h="7167270" w="7947578">
                <a:moveTo>
                  <a:pt x="0" y="0"/>
                </a:moveTo>
                <a:lnTo>
                  <a:pt x="7947578" y="0"/>
                </a:lnTo>
                <a:lnTo>
                  <a:pt x="7947578" y="7167271"/>
                </a:lnTo>
                <a:lnTo>
                  <a:pt x="0" y="7167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49235">
            <a:off x="13701316" y="911210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7"/>
                </a:lnTo>
                <a:lnTo>
                  <a:pt x="0" y="77502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08881" y="3524220"/>
            <a:ext cx="11582665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9"/>
              </a:lnSpc>
              <a:spcBef>
                <a:spcPct val="0"/>
              </a:spcBef>
            </a:pPr>
            <a:r>
              <a:rPr lang="en-US" b="true" sz="6715">
                <a:solidFill>
                  <a:srgbClr val="FAD955"/>
                </a:solidFill>
                <a:latin typeface="Garet Bold"/>
                <a:ea typeface="Garet Bold"/>
                <a:cs typeface="Garet Bold"/>
                <a:sym typeface="Garet Bold"/>
              </a:rPr>
              <a:t>Smart Drought Response: AI Ranking for High‑Risk Counties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6091" y="7300469"/>
            <a:ext cx="13458302" cy="110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2"/>
              </a:lnSpc>
            </a:pPr>
            <a:r>
              <a:rPr lang="en-US" sz="36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Team Geek Squad - Juwan Johnson, Karim Stackhouse, Joshua Parker, Carelle Ngadeu, Jeremiah Drummond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626440" y="9077265"/>
            <a:ext cx="2692391" cy="2692391"/>
          </a:xfrm>
          <a:custGeom>
            <a:avLst/>
            <a:gdLst/>
            <a:ahLst/>
            <a:cxnLst/>
            <a:rect r="r" b="b" t="t" l="l"/>
            <a:pathLst>
              <a:path h="2692391" w="2692391">
                <a:moveTo>
                  <a:pt x="0" y="0"/>
                </a:moveTo>
                <a:lnTo>
                  <a:pt x="2692391" y="0"/>
                </a:lnTo>
                <a:lnTo>
                  <a:pt x="2692391" y="2692391"/>
                </a:lnTo>
                <a:lnTo>
                  <a:pt x="0" y="2692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79517" y="-1252946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6" y="0"/>
                </a:lnTo>
                <a:lnTo>
                  <a:pt x="2281646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091410"/>
            <a:ext cx="526045" cy="526045"/>
          </a:xfrm>
          <a:custGeom>
            <a:avLst/>
            <a:gdLst/>
            <a:ahLst/>
            <a:cxnLst/>
            <a:rect r="r" b="b" t="t" l="l"/>
            <a:pathLst>
              <a:path h="526045" w="526045">
                <a:moveTo>
                  <a:pt x="0" y="0"/>
                </a:moveTo>
                <a:lnTo>
                  <a:pt x="526045" y="0"/>
                </a:lnTo>
                <a:lnTo>
                  <a:pt x="526045" y="526045"/>
                </a:lnTo>
                <a:lnTo>
                  <a:pt x="0" y="526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87881" y="4617455"/>
            <a:ext cx="8005996" cy="6813294"/>
            <a:chOff x="0" y="0"/>
            <a:chExt cx="2108575" cy="1794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8575" cy="1794448"/>
            </a:xfrm>
            <a:custGeom>
              <a:avLst/>
              <a:gdLst/>
              <a:ahLst/>
              <a:cxnLst/>
              <a:rect r="r" b="b" t="t" l="l"/>
              <a:pathLst>
                <a:path h="1794448" w="2108575">
                  <a:moveTo>
                    <a:pt x="96702" y="0"/>
                  </a:moveTo>
                  <a:lnTo>
                    <a:pt x="2011874" y="0"/>
                  </a:lnTo>
                  <a:cubicBezTo>
                    <a:pt x="2037520" y="0"/>
                    <a:pt x="2062117" y="10188"/>
                    <a:pt x="2080252" y="28323"/>
                  </a:cubicBezTo>
                  <a:cubicBezTo>
                    <a:pt x="2098387" y="46458"/>
                    <a:pt x="2108575" y="71055"/>
                    <a:pt x="2108575" y="96702"/>
                  </a:cubicBezTo>
                  <a:lnTo>
                    <a:pt x="2108575" y="1697746"/>
                  </a:lnTo>
                  <a:cubicBezTo>
                    <a:pt x="2108575" y="1723393"/>
                    <a:pt x="2098387" y="1747989"/>
                    <a:pt x="2080252" y="1766124"/>
                  </a:cubicBezTo>
                  <a:cubicBezTo>
                    <a:pt x="2062117" y="1784260"/>
                    <a:pt x="2037520" y="1794448"/>
                    <a:pt x="2011874" y="1794448"/>
                  </a:cubicBezTo>
                  <a:lnTo>
                    <a:pt x="96702" y="1794448"/>
                  </a:lnTo>
                  <a:cubicBezTo>
                    <a:pt x="71055" y="1794448"/>
                    <a:pt x="46458" y="1784260"/>
                    <a:pt x="28323" y="1766124"/>
                  </a:cubicBezTo>
                  <a:cubicBezTo>
                    <a:pt x="10188" y="1747989"/>
                    <a:pt x="0" y="1723393"/>
                    <a:pt x="0" y="1697746"/>
                  </a:cubicBezTo>
                  <a:lnTo>
                    <a:pt x="0" y="96702"/>
                  </a:lnTo>
                  <a:cubicBezTo>
                    <a:pt x="0" y="71055"/>
                    <a:pt x="10188" y="46458"/>
                    <a:pt x="28323" y="28323"/>
                  </a:cubicBezTo>
                  <a:cubicBezTo>
                    <a:pt x="46458" y="10188"/>
                    <a:pt x="71055" y="0"/>
                    <a:pt x="96702" y="0"/>
                  </a:cubicBezTo>
                  <a:close/>
                </a:path>
              </a:pathLst>
            </a:custGeom>
            <a:solidFill>
              <a:srgbClr val="06532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08575" cy="1832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045608" y="1028700"/>
            <a:ext cx="3213692" cy="7132653"/>
            <a:chOff x="0" y="0"/>
            <a:chExt cx="2858770" cy="6344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5"/>
              <a:stretch>
                <a:fillRect l="-117190" t="0" r="-11719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098515" y="2440949"/>
            <a:ext cx="3213692" cy="7132653"/>
            <a:chOff x="0" y="0"/>
            <a:chExt cx="2858770" cy="6344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6"/>
              <a:stretch>
                <a:fillRect l="-60893" t="0" r="-17223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1765720"/>
            <a:ext cx="8941669" cy="218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  <a:spcBef>
                <a:spcPct val="0"/>
              </a:spcBef>
            </a:pPr>
            <a:r>
              <a:rPr lang="en-US" b="true" sz="7203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722230"/>
            <a:ext cx="8336390" cy="433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2267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Traditional drought triggers like rainfall deficits often miss the counties experiencing real crop losses, slowing emergency relief decisions.</a:t>
            </a:r>
          </a:p>
          <a:p>
            <a:pPr algn="l">
              <a:lnSpc>
                <a:spcPts val="3173"/>
              </a:lnSpc>
            </a:pPr>
          </a:p>
          <a:p>
            <a:pPr algn="l">
              <a:lnSpc>
                <a:spcPts val="3173"/>
              </a:lnSpc>
            </a:pPr>
            <a:r>
              <a:rPr lang="en-US" sz="2267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267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We built a data‑driven county ranking and trigger system trained on 2000–2015 and validated on 2016–2025 to reliably identify high‑risk areas.</a:t>
            </a:r>
          </a:p>
          <a:p>
            <a:pPr algn="l">
              <a:lnSpc>
                <a:spcPts val="3173"/>
              </a:lnSpc>
            </a:pPr>
          </a:p>
          <a:p>
            <a:pPr algn="l">
              <a:lnSpc>
                <a:spcPts val="3173"/>
              </a:lnSpc>
            </a:pPr>
            <a:r>
              <a:rPr lang="en-US" sz="2267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267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Our GitHub Pages dashboard gives state officials a fast, clear way to target drought assistance with greater accuracy and confidence.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349235">
            <a:off x="12076198" y="2258515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462012" y="-582051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6" y="0"/>
                </a:lnTo>
                <a:lnTo>
                  <a:pt x="2281646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6425" y="0"/>
            <a:ext cx="8261575" cy="10287000"/>
            <a:chOff x="0" y="0"/>
            <a:chExt cx="217588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588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5888">
                  <a:moveTo>
                    <a:pt x="0" y="0"/>
                  </a:moveTo>
                  <a:lnTo>
                    <a:pt x="2175888" y="0"/>
                  </a:lnTo>
                  <a:lnTo>
                    <a:pt x="21758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588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08106" y="1619086"/>
            <a:ext cx="5246370" cy="3830036"/>
            <a:chOff x="0" y="0"/>
            <a:chExt cx="812800" cy="5933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593373"/>
            </a:xfrm>
            <a:custGeom>
              <a:avLst/>
              <a:gdLst/>
              <a:ahLst/>
              <a:cxnLst/>
              <a:rect r="r" b="b" t="t" l="l"/>
              <a:pathLst>
                <a:path h="59337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593373"/>
                  </a:lnTo>
                  <a:lnTo>
                    <a:pt x="0" y="593373"/>
                  </a:lnTo>
                  <a:close/>
                </a:path>
              </a:pathLst>
            </a:custGeom>
            <a:blipFill>
              <a:blip r:embed="rId3"/>
              <a:stretch>
                <a:fillRect l="-4786" t="0" r="-4786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19711" y="908524"/>
            <a:ext cx="8352465" cy="437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</a:pPr>
            <a:r>
              <a:rPr lang="en-US" sz="7203" b="true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State Drought Program officials must decide...</a:t>
            </a:r>
          </a:p>
          <a:p>
            <a:pPr algn="l">
              <a:lnSpc>
                <a:spcPts val="8643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543910" y="6194068"/>
            <a:ext cx="7226606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Which counties should receive funding first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What metric or threshold triggers assistance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Which counties face the most urgent drought-related losses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10426832">
            <a:off x="-1792469" y="6933678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79688" y="-1140823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7" y="0"/>
                </a:lnTo>
                <a:lnTo>
                  <a:pt x="2281647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2655" y="2697922"/>
            <a:ext cx="526045" cy="526045"/>
          </a:xfrm>
          <a:custGeom>
            <a:avLst/>
            <a:gdLst/>
            <a:ahLst/>
            <a:cxnLst/>
            <a:rect r="r" b="b" t="t" l="l"/>
            <a:pathLst>
              <a:path h="526045" w="526045">
                <a:moveTo>
                  <a:pt x="0" y="0"/>
                </a:moveTo>
                <a:lnTo>
                  <a:pt x="526045" y="0"/>
                </a:lnTo>
                <a:lnTo>
                  <a:pt x="526045" y="526045"/>
                </a:lnTo>
                <a:lnTo>
                  <a:pt x="0" y="526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87881" y="4617455"/>
            <a:ext cx="8005996" cy="6813294"/>
            <a:chOff x="0" y="0"/>
            <a:chExt cx="2108575" cy="1794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8575" cy="1794448"/>
            </a:xfrm>
            <a:custGeom>
              <a:avLst/>
              <a:gdLst/>
              <a:ahLst/>
              <a:cxnLst/>
              <a:rect r="r" b="b" t="t" l="l"/>
              <a:pathLst>
                <a:path h="1794448" w="2108575">
                  <a:moveTo>
                    <a:pt x="96702" y="0"/>
                  </a:moveTo>
                  <a:lnTo>
                    <a:pt x="2011874" y="0"/>
                  </a:lnTo>
                  <a:cubicBezTo>
                    <a:pt x="2037520" y="0"/>
                    <a:pt x="2062117" y="10188"/>
                    <a:pt x="2080252" y="28323"/>
                  </a:cubicBezTo>
                  <a:cubicBezTo>
                    <a:pt x="2098387" y="46458"/>
                    <a:pt x="2108575" y="71055"/>
                    <a:pt x="2108575" y="96702"/>
                  </a:cubicBezTo>
                  <a:lnTo>
                    <a:pt x="2108575" y="1697746"/>
                  </a:lnTo>
                  <a:cubicBezTo>
                    <a:pt x="2108575" y="1723393"/>
                    <a:pt x="2098387" y="1747989"/>
                    <a:pt x="2080252" y="1766124"/>
                  </a:cubicBezTo>
                  <a:cubicBezTo>
                    <a:pt x="2062117" y="1784260"/>
                    <a:pt x="2037520" y="1794448"/>
                    <a:pt x="2011874" y="1794448"/>
                  </a:cubicBezTo>
                  <a:lnTo>
                    <a:pt x="96702" y="1794448"/>
                  </a:lnTo>
                  <a:cubicBezTo>
                    <a:pt x="71055" y="1794448"/>
                    <a:pt x="46458" y="1784260"/>
                    <a:pt x="28323" y="1766124"/>
                  </a:cubicBezTo>
                  <a:cubicBezTo>
                    <a:pt x="10188" y="1747989"/>
                    <a:pt x="0" y="1723393"/>
                    <a:pt x="0" y="1697746"/>
                  </a:cubicBezTo>
                  <a:lnTo>
                    <a:pt x="0" y="96702"/>
                  </a:lnTo>
                  <a:cubicBezTo>
                    <a:pt x="0" y="71055"/>
                    <a:pt x="10188" y="46458"/>
                    <a:pt x="28323" y="28323"/>
                  </a:cubicBezTo>
                  <a:cubicBezTo>
                    <a:pt x="46458" y="10188"/>
                    <a:pt x="71055" y="0"/>
                    <a:pt x="96702" y="0"/>
                  </a:cubicBezTo>
                  <a:close/>
                </a:path>
              </a:pathLst>
            </a:custGeom>
            <a:solidFill>
              <a:srgbClr val="06532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08575" cy="1832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045608" y="1028700"/>
            <a:ext cx="3213692" cy="7132653"/>
            <a:chOff x="0" y="0"/>
            <a:chExt cx="2858770" cy="6344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5"/>
              <a:stretch>
                <a:fillRect l="-116876" t="0" r="-11687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95520" y="2476981"/>
            <a:ext cx="3213692" cy="7132653"/>
            <a:chOff x="0" y="0"/>
            <a:chExt cx="2858770" cy="6344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6"/>
              <a:stretch>
                <a:fillRect l="-217352" t="0" r="-1640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349235">
            <a:off x="12076198" y="2258515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462012" y="-582051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6" y="0"/>
                </a:lnTo>
                <a:lnTo>
                  <a:pt x="2281646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8811" y="311122"/>
            <a:ext cx="8756090" cy="218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  <a:spcBef>
                <a:spcPct val="0"/>
              </a:spcBef>
            </a:pPr>
            <a:r>
              <a:rPr lang="en-US" b="true" sz="7203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Success looks like...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7618" y="3385892"/>
            <a:ext cx="8987283" cy="584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Success Checkpoints: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County report cards show historical drought conditions and crop yield losses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A ranking model developed using 2000–2015 data identifies severe yield losses in unseen data from 2016–2025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Benefits: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Rankings outperform simpler approaches, such as random allocation or prioritizing rainfall shortages alone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An interactive dashboard lets officials explore county rankings, historical trends, and assistance thresholds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6425" y="0"/>
            <a:ext cx="8261575" cy="10287000"/>
            <a:chOff x="0" y="0"/>
            <a:chExt cx="217588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588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5888">
                  <a:moveTo>
                    <a:pt x="0" y="0"/>
                  </a:moveTo>
                  <a:lnTo>
                    <a:pt x="2175888" y="0"/>
                  </a:lnTo>
                  <a:lnTo>
                    <a:pt x="21758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588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08106" y="1055098"/>
            <a:ext cx="5246370" cy="3830036"/>
            <a:chOff x="0" y="0"/>
            <a:chExt cx="812800" cy="5933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593373"/>
            </a:xfrm>
            <a:custGeom>
              <a:avLst/>
              <a:gdLst/>
              <a:ahLst/>
              <a:cxnLst/>
              <a:rect r="r" b="b" t="t" l="l"/>
              <a:pathLst>
                <a:path h="59337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593373"/>
                  </a:lnTo>
                  <a:lnTo>
                    <a:pt x="0" y="593373"/>
                  </a:lnTo>
                  <a:close/>
                </a:path>
              </a:pathLst>
            </a:custGeom>
            <a:blipFill>
              <a:blip r:embed="rId3"/>
              <a:stretch>
                <a:fillRect l="0" t="-11812" r="0" b="-1181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10426832">
            <a:off x="-1792469" y="6933678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79688" y="-1140823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7" y="0"/>
                </a:lnTo>
                <a:lnTo>
                  <a:pt x="2281647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9232" y="1038225"/>
            <a:ext cx="6816864" cy="327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</a:pPr>
            <a:r>
              <a:rPr lang="en-US" sz="7203" b="true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Ex. User : Dana Mitchell</a:t>
            </a:r>
          </a:p>
          <a:p>
            <a:pPr algn="l">
              <a:lnSpc>
                <a:spcPts val="8643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01607" y="5291047"/>
            <a:ext cx="7911212" cy="458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Works for a state agricultural agency and coordinates emergency drought assistance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Has a limited relief budget and needs to decide which counties receive funding first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Must explain funding recommendations to agency leadership and county agricultural offices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Needs clear evidence and an easy-to-use dashboard—not a tool that requires coding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9232" y="4056855"/>
            <a:ext cx="9647194" cy="218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  <a:spcBef>
                <a:spcPct val="0"/>
              </a:spcBef>
            </a:pPr>
            <a:r>
              <a:rPr lang="en-US" b="true" sz="7203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State Drought Relief Coordinator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6425" y="0"/>
            <a:ext cx="8261575" cy="10287000"/>
            <a:chOff x="0" y="0"/>
            <a:chExt cx="217588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588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5888">
                  <a:moveTo>
                    <a:pt x="0" y="0"/>
                  </a:moveTo>
                  <a:lnTo>
                    <a:pt x="2175888" y="0"/>
                  </a:lnTo>
                  <a:lnTo>
                    <a:pt x="21758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588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08106" y="1619086"/>
            <a:ext cx="5246370" cy="3830036"/>
            <a:chOff x="0" y="0"/>
            <a:chExt cx="812800" cy="5933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593373"/>
            </a:xfrm>
            <a:custGeom>
              <a:avLst/>
              <a:gdLst/>
              <a:ahLst/>
              <a:cxnLst/>
              <a:rect r="r" b="b" t="t" l="l"/>
              <a:pathLst>
                <a:path h="59337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593373"/>
                  </a:lnTo>
                  <a:lnTo>
                    <a:pt x="0" y="593373"/>
                  </a:lnTo>
                  <a:close/>
                </a:path>
              </a:pathLst>
            </a:custGeom>
            <a:blipFill>
              <a:blip r:embed="rId2"/>
              <a:stretch>
                <a:fillRect l="-14892" t="0" r="-14892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10426832">
            <a:off x="-1792469" y="6933678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79688" y="-1140823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7" y="0"/>
                </a:lnTo>
                <a:lnTo>
                  <a:pt x="2281647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3653" y="1431002"/>
            <a:ext cx="5740151" cy="108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  <a:spcBef>
                <a:spcPct val="0"/>
              </a:spcBef>
            </a:pPr>
            <a:r>
              <a:rPr lang="en-US" b="true" sz="7203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Demo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3286" y="3438854"/>
            <a:ext cx="7196095" cy="362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1"/>
              </a:lnSpc>
            </a:pPr>
            <a:r>
              <a:rPr lang="en-US" b="true" sz="5186" u="sng">
                <a:solidFill>
                  <a:srgbClr val="151D1F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7" tooltip="https://ms-cc-org.github.io/DSU-Hackathon-2026-Geek-Squad/"/>
              </a:rPr>
              <a:t>https://ms-cc-org.github.io/DSU-Hackathon-2026-Geek-Squad/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50033" y="627143"/>
            <a:ext cx="12238688" cy="14419662"/>
          </a:xfrm>
          <a:custGeom>
            <a:avLst/>
            <a:gdLst/>
            <a:ahLst/>
            <a:cxnLst/>
            <a:rect r="r" b="b" t="t" l="l"/>
            <a:pathLst>
              <a:path h="14419662" w="12238688">
                <a:moveTo>
                  <a:pt x="0" y="0"/>
                </a:moveTo>
                <a:lnTo>
                  <a:pt x="12238689" y="0"/>
                </a:lnTo>
                <a:lnTo>
                  <a:pt x="12238689" y="14419663"/>
                </a:lnTo>
                <a:lnTo>
                  <a:pt x="0" y="1441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2448162" y="-3996202"/>
            <a:ext cx="12238688" cy="14419662"/>
          </a:xfrm>
          <a:custGeom>
            <a:avLst/>
            <a:gdLst/>
            <a:ahLst/>
            <a:cxnLst/>
            <a:rect r="r" b="b" t="t" l="l"/>
            <a:pathLst>
              <a:path h="14419662" w="12238688">
                <a:moveTo>
                  <a:pt x="0" y="0"/>
                </a:moveTo>
                <a:lnTo>
                  <a:pt x="12238688" y="0"/>
                </a:lnTo>
                <a:lnTo>
                  <a:pt x="12238688" y="14419663"/>
                </a:lnTo>
                <a:lnTo>
                  <a:pt x="0" y="1441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49235">
            <a:off x="-864908" y="-4290068"/>
            <a:ext cx="7947578" cy="7167270"/>
          </a:xfrm>
          <a:custGeom>
            <a:avLst/>
            <a:gdLst/>
            <a:ahLst/>
            <a:cxnLst/>
            <a:rect r="r" b="b" t="t" l="l"/>
            <a:pathLst>
              <a:path h="7167270" w="7947578">
                <a:moveTo>
                  <a:pt x="0" y="0"/>
                </a:moveTo>
                <a:lnTo>
                  <a:pt x="7947578" y="0"/>
                </a:lnTo>
                <a:lnTo>
                  <a:pt x="7947578" y="7167271"/>
                </a:lnTo>
                <a:lnTo>
                  <a:pt x="0" y="7167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49235">
            <a:off x="13701316" y="911210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7"/>
                </a:lnTo>
                <a:lnTo>
                  <a:pt x="0" y="77502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76635" y="3500463"/>
            <a:ext cx="1158266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>
                <a:solidFill>
                  <a:srgbClr val="FAD955"/>
                </a:solidFill>
                <a:latin typeface="Garet Bold"/>
                <a:ea typeface="Garet Bold"/>
                <a:cs typeface="Garet Bold"/>
                <a:sym typeface="Garet Bold"/>
              </a:rPr>
              <a:t>Thank You!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626440" y="9077265"/>
            <a:ext cx="2692391" cy="2692391"/>
          </a:xfrm>
          <a:custGeom>
            <a:avLst/>
            <a:gdLst/>
            <a:ahLst/>
            <a:cxnLst/>
            <a:rect r="r" b="b" t="t" l="l"/>
            <a:pathLst>
              <a:path h="2692391" w="2692391">
                <a:moveTo>
                  <a:pt x="0" y="0"/>
                </a:moveTo>
                <a:lnTo>
                  <a:pt x="2692391" y="0"/>
                </a:lnTo>
                <a:lnTo>
                  <a:pt x="2692391" y="2692391"/>
                </a:lnTo>
                <a:lnTo>
                  <a:pt x="0" y="2692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79517" y="-1252946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6" y="0"/>
                </a:lnTo>
                <a:lnTo>
                  <a:pt x="2281646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55257" y="5960823"/>
            <a:ext cx="12703491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0"/>
              </a:lnSpc>
            </a:pPr>
            <a:r>
              <a:rPr lang="en-US" sz="75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Questions?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DAHYRzAMZeo</dc:identifier>
  <dcterms:modified xsi:type="dcterms:W3CDTF">2011-08-01T06:04:30Z</dcterms:modified>
  <cp:revision>1</cp:revision>
  <dc:title>Green and Yellow Modern Agriculture Presentation</dc:title>
</cp:coreProperties>
</file>